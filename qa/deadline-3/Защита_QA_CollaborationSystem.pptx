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68"/>
  </p:normalViewPr>
  <p:slideViewPr>
    <p:cSldViewPr snapToGrid="0">
      <p:cViewPr varScale="1">
        <p:scale>
          <a:sx n="119" d="100"/>
          <a:sy n="119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313FB39-1BEF-4D6B-9C89-38509E88CBB3}"/>
              </a:ext>
            </a:extLst>
          </p:cNvPr>
          <p:cNvSpPr>
            <a:spLocks noGrp="1"/>
          </p:cNvSpPr>
          <p:nvPr/>
        </p:nvSpPr>
        <p:spPr>
          <a:xfrm>
            <a:off x="0" y="304800"/>
            <a:ext cx="12192000" cy="6858000"/>
          </a:xfrm>
          <a:prstGeom prst="rect">
            <a:avLst/>
          </a:prstGeom>
          <a:solidFill>
            <a:srgbClr val="F6F3EE"/>
          </a:solidFill>
          <a:ln w="0">
            <a:solidFill>
              <a:srgbClr val="F6F3EE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4CA9E6E-AFFF-409A-80AD-E25D8A90D6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5A3D1A-B54D-4363-BA0C-72D86D3620F0}"/>
              </a:ext>
            </a:extLst>
          </p:cNvPr>
          <p:cNvSpPr>
            <a:spLocks noGrp="1"/>
          </p:cNvSpPr>
          <p:nvPr/>
        </p:nvSpPr>
        <p:spPr>
          <a:xfrm>
            <a:off x="762000" y="7048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8E9E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9E73"/>
                </a:solidFill>
                <a:latin typeface="Aptos"/>
                <a:ea typeface="Aptos"/>
                <a:cs typeface="Aptos"/>
              </a:rPr>
              <a:t>QA DEFENSE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37195AB-49F6-434C-837F-569998F5AD88}"/>
              </a:ext>
            </a:extLst>
          </p:cNvPr>
          <p:cNvSpPr>
            <a:spLocks noGrp="1"/>
          </p:cNvSpPr>
          <p:nvPr/>
        </p:nvSpPr>
        <p:spPr>
          <a:xfrm>
            <a:off x="762000" y="1047750"/>
            <a:ext cx="590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Система совместной работы</a:t>
            </a:r>
          </a:p>
          <a:p>
            <a:pPr algn="l">
              <a:defRPr sz="225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Итоги тестирования проекта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8939934-FC01-4411-A5CF-C7612F454341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95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Роль в команде: тестировщик</a:t>
            </a:r>
          </a:p>
          <a:p>
            <a:pPr algn="l">
              <a:defRPr sz="120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Фокус: smoke, UI, API авторизации, регрессия и ретест дефектов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13FD53-C795-4C05-AF59-367728BFE46D}"/>
              </a:ext>
            </a:extLst>
          </p:cNvPr>
          <p:cNvSpPr>
            <a:spLocks noGrp="1"/>
          </p:cNvSpPr>
          <p:nvPr/>
        </p:nvSpPr>
        <p:spPr>
          <a:xfrm>
            <a:off x="762000" y="3486150"/>
            <a:ext cx="1524000" cy="10477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8AB7EB0-E9A4-47FA-B8FE-A04B01A13B1C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8/8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2D38FF1-D136-439F-879E-088187891C0E}"/>
              </a:ext>
            </a:extLst>
          </p:cNvPr>
          <p:cNvSpPr>
            <a:spLocks noGrp="1"/>
          </p:cNvSpPr>
          <p:nvPr/>
        </p:nvSpPr>
        <p:spPr>
          <a:xfrm>
            <a:off x="933450" y="40195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сценариев auth API пройдено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AD1399A-9BC8-47D8-90A3-C6710A4F57E3}"/>
              </a:ext>
            </a:extLst>
          </p:cNvPr>
          <p:cNvSpPr>
            <a:spLocks noGrp="1"/>
          </p:cNvSpPr>
          <p:nvPr/>
        </p:nvSpPr>
        <p:spPr>
          <a:xfrm>
            <a:off x="933450" y="4400550"/>
            <a:ext cx="1181100" cy="38100"/>
          </a:xfrm>
          <a:prstGeom prst="rect">
            <a:avLst/>
          </a:prstGeom>
          <a:solidFill>
            <a:srgbClr val="3C664D"/>
          </a:solidFill>
          <a:ln w="0">
            <a:solidFill>
              <a:srgbClr val="3C664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5A492C2-EDF5-4802-B4D2-5C453F2EFD1F}"/>
              </a:ext>
            </a:extLst>
          </p:cNvPr>
          <p:cNvSpPr>
            <a:spLocks noGrp="1"/>
          </p:cNvSpPr>
          <p:nvPr/>
        </p:nvSpPr>
        <p:spPr>
          <a:xfrm>
            <a:off x="2438400" y="3486150"/>
            <a:ext cx="1524000" cy="1047750"/>
          </a:xfrm>
          <a:prstGeom prst="rect">
            <a:avLst/>
          </a:prstGeom>
          <a:solidFill>
            <a:srgbClr val="F6E9B5"/>
          </a:solidFill>
          <a:ln w="9525">
            <a:solidFill>
              <a:srgbClr val="F6E9B5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27DC74A-7382-42CF-899F-8FAFDCBDCD26}"/>
              </a:ext>
            </a:extLst>
          </p:cNvPr>
          <p:cNvSpPr>
            <a:spLocks noGrp="1"/>
          </p:cNvSpPr>
          <p:nvPr/>
        </p:nvSpPr>
        <p:spPr>
          <a:xfrm>
            <a:off x="2609850" y="36385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4/5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E021B1D-32F8-4353-867B-B2D90E7FE530}"/>
              </a:ext>
            </a:extLst>
          </p:cNvPr>
          <p:cNvSpPr>
            <a:spLocks noGrp="1"/>
          </p:cNvSpPr>
          <p:nvPr/>
        </p:nvSpPr>
        <p:spPr>
          <a:xfrm>
            <a:off x="2609850" y="40195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старых багов исправлено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3BC64FE-B2C9-4913-B965-93DF82AC7E80}"/>
              </a:ext>
            </a:extLst>
          </p:cNvPr>
          <p:cNvSpPr>
            <a:spLocks noGrp="1"/>
          </p:cNvSpPr>
          <p:nvPr/>
        </p:nvSpPr>
        <p:spPr>
          <a:xfrm>
            <a:off x="2609850" y="4400550"/>
            <a:ext cx="1181100" cy="381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3731B05-CE5B-40B6-9D7E-70F2F5193AFB}"/>
              </a:ext>
            </a:extLst>
          </p:cNvPr>
          <p:cNvSpPr>
            <a:spLocks noGrp="1"/>
          </p:cNvSpPr>
          <p:nvPr/>
        </p:nvSpPr>
        <p:spPr>
          <a:xfrm>
            <a:off x="4114800" y="3486150"/>
            <a:ext cx="1524000" cy="1047750"/>
          </a:xfrm>
          <a:prstGeom prst="rect">
            <a:avLst/>
          </a:prstGeom>
          <a:solidFill>
            <a:srgbClr val="F4D8D8"/>
          </a:solidFill>
          <a:ln w="9525">
            <a:solidFill>
              <a:srgbClr val="F4D8D8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2C2961E-ECDF-46AB-B515-0FEB88F2A3A9}"/>
              </a:ext>
            </a:extLst>
          </p:cNvPr>
          <p:cNvSpPr>
            <a:spLocks noGrp="1"/>
          </p:cNvSpPr>
          <p:nvPr/>
        </p:nvSpPr>
        <p:spPr>
          <a:xfrm>
            <a:off x="4286250" y="36385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13B3204-EA67-4BA8-9839-C4E2A49AD86D}"/>
              </a:ext>
            </a:extLst>
          </p:cNvPr>
          <p:cNvSpPr>
            <a:spLocks noGrp="1"/>
          </p:cNvSpPr>
          <p:nvPr/>
        </p:nvSpPr>
        <p:spPr>
          <a:xfrm>
            <a:off x="4286250" y="4019550"/>
            <a:ext cx="1181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актуальный дефект остался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765BA2A-1826-492A-A738-A3C77BB1970A}"/>
              </a:ext>
            </a:extLst>
          </p:cNvPr>
          <p:cNvSpPr>
            <a:spLocks noGrp="1"/>
          </p:cNvSpPr>
          <p:nvPr/>
        </p:nvSpPr>
        <p:spPr>
          <a:xfrm>
            <a:off x="4286250" y="4400550"/>
            <a:ext cx="1181100" cy="38100"/>
          </a:xfrm>
          <a:prstGeom prst="rect">
            <a:avLst/>
          </a:prstGeom>
          <a:solidFill>
            <a:srgbClr val="A84F4F"/>
          </a:solidFill>
          <a:ln w="0">
            <a:solidFill>
              <a:srgbClr val="A84F4F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5E066F6-8ACE-4A8E-B328-B11CE2AB0EA2}"/>
              </a:ext>
            </a:extLst>
          </p:cNvPr>
          <p:cNvSpPr>
            <a:spLocks noGrp="1"/>
          </p:cNvSpPr>
          <p:nvPr/>
        </p:nvSpPr>
        <p:spPr>
          <a:xfrm>
            <a:off x="6667500" y="781050"/>
            <a:ext cx="4762500" cy="5143500"/>
          </a:xfrm>
          <a:prstGeom prst="rect">
            <a:avLst/>
          </a:prstGeom>
          <a:solidFill>
            <a:srgbClr val="F0E8D5"/>
          </a:solidFill>
          <a:ln w="9525">
            <a:solidFill>
              <a:srgbClr val="F0E8D5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F927CED-2DD5-4A6A-A609-C74D643D87BF}"/>
              </a:ext>
            </a:extLst>
          </p:cNvPr>
          <p:cNvSpPr>
            <a:spLocks noGrp="1"/>
          </p:cNvSpPr>
          <p:nvPr/>
        </p:nvSpPr>
        <p:spPr>
          <a:xfrm>
            <a:off x="6953250" y="541020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Проверка велась на живом локальном стенде с реальным UI и Postman-коллекциями.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338D0FC-AA28-431D-A4A9-EB65B02E2FD4}"/>
              </a:ext>
            </a:extLst>
          </p:cNvPr>
          <p:cNvSpPr>
            <a:spLocks noGrp="1"/>
          </p:cNvSpPr>
          <p:nvPr/>
        </p:nvSpPr>
        <p:spPr>
          <a:xfrm>
            <a:off x="11239500" y="63627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01888B6-2F9C-5533-4AD4-2123A5B04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573" y="1168213"/>
            <a:ext cx="4182353" cy="357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5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A1A5E62-E713-4BCA-9692-AA059BDDC6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0">
            <a:solidFill>
              <a:srgbClr val="F6F3EE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B1A1FA4-FE77-4151-8265-C0A5D6FF506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E9E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9E73"/>
                </a:solidFill>
                <a:latin typeface="Aptos"/>
                <a:ea typeface="Aptos"/>
                <a:cs typeface="Aptos"/>
              </a:rPr>
              <a:t>PROJECT CONTEXT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F7AD70-167B-4F54-A34E-359CD1067F2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Что это за проект и зачем его тестировать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0018F6-EEE9-42B2-AB44-8C40CB293D9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Продукт хранит предложения по улучшению процессов разработки, комментарии, голосование и управление проектами.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38FC760-DC30-4439-8B58-2D050AA59ED1}"/>
              </a:ext>
            </a:extLst>
          </p:cNvPr>
          <p:cNvSpPr>
            <a:spLocks noGrp="1"/>
          </p:cNvSpPr>
          <p:nvPr/>
        </p:nvSpPr>
        <p:spPr>
          <a:xfrm>
            <a:off x="11239500" y="381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243763C-1FD3-4A13-9E0D-C7C5F4F7D7AB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9525"/>
          </a:xfrm>
          <a:prstGeom prst="rect">
            <a:avLst/>
          </a:prstGeom>
          <a:solidFill>
            <a:srgbClr val="DED8CC"/>
          </a:solidFill>
          <a:ln w="0">
            <a:solidFill>
              <a:srgbClr val="DED8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E5CA364-BD92-4166-852E-B516BD94CC3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476750" cy="352425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C130195-2BC5-41BD-AF59-909EB682017F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Ключевые сущности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294427-CAB3-44D0-9AA1-FE875E5B942F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C83AE5E-3FAA-42B1-AB7C-B5087EFFFAF7}"/>
              </a:ext>
            </a:extLst>
          </p:cNvPr>
          <p:cNvSpPr>
            <a:spLocks noGrp="1"/>
          </p:cNvSpPr>
          <p:nvPr/>
        </p:nvSpPr>
        <p:spPr>
          <a:xfrm>
            <a:off x="1104900" y="2857500"/>
            <a:ext cx="361950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проекты и участники с ролями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BA7850C-DE90-4E71-9C9E-981AC1FD1835}"/>
              </a:ext>
            </a:extLst>
          </p:cNvPr>
          <p:cNvSpPr>
            <a:spLocks noGrp="1"/>
          </p:cNvSpPr>
          <p:nvPr/>
        </p:nvSpPr>
        <p:spPr>
          <a:xfrm>
            <a:off x="914400" y="3388043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F38867-B1FD-4043-B15A-2E73BA218322}"/>
              </a:ext>
            </a:extLst>
          </p:cNvPr>
          <p:cNvSpPr>
            <a:spLocks noGrp="1"/>
          </p:cNvSpPr>
          <p:nvPr/>
        </p:nvSpPr>
        <p:spPr>
          <a:xfrm>
            <a:off x="1104900" y="3311843"/>
            <a:ext cx="361950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предложения с жизненным циклом статусов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3D03FBD-7D60-467D-8C3A-F39646D4CBD8}"/>
              </a:ext>
            </a:extLst>
          </p:cNvPr>
          <p:cNvSpPr>
            <a:spLocks noGrp="1"/>
          </p:cNvSpPr>
          <p:nvPr/>
        </p:nvSpPr>
        <p:spPr>
          <a:xfrm>
            <a:off x="914400" y="3842385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E31F7A-9B99-4158-BEDF-BA7A70730987}"/>
              </a:ext>
            </a:extLst>
          </p:cNvPr>
          <p:cNvSpPr>
            <a:spLocks noGrp="1"/>
          </p:cNvSpPr>
          <p:nvPr/>
        </p:nvSpPr>
        <p:spPr>
          <a:xfrm>
            <a:off x="1104900" y="3766185"/>
            <a:ext cx="361950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голосование за и против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C3C9D94-1B64-44E5-9C99-340B0383FBF5}"/>
              </a:ext>
            </a:extLst>
          </p:cNvPr>
          <p:cNvSpPr>
            <a:spLocks noGrp="1"/>
          </p:cNvSpPr>
          <p:nvPr/>
        </p:nvSpPr>
        <p:spPr>
          <a:xfrm>
            <a:off x="914400" y="4296728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88607C4-F5CF-4F1E-9439-A8376529450A}"/>
              </a:ext>
            </a:extLst>
          </p:cNvPr>
          <p:cNvSpPr>
            <a:spLocks noGrp="1"/>
          </p:cNvSpPr>
          <p:nvPr/>
        </p:nvSpPr>
        <p:spPr>
          <a:xfrm>
            <a:off x="1104900" y="4220528"/>
            <a:ext cx="361950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комментарии и обсуждение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157B472-CA3B-4DE5-8D49-88683FCBDA05}"/>
              </a:ext>
            </a:extLst>
          </p:cNvPr>
          <p:cNvSpPr>
            <a:spLocks noGrp="1"/>
          </p:cNvSpPr>
          <p:nvPr/>
        </p:nvSpPr>
        <p:spPr>
          <a:xfrm>
            <a:off x="914400" y="475107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0ABBCC2-C09F-476E-9A22-E6228CD5F7AF}"/>
              </a:ext>
            </a:extLst>
          </p:cNvPr>
          <p:cNvSpPr>
            <a:spLocks noGrp="1"/>
          </p:cNvSpPr>
          <p:nvPr/>
        </p:nvSpPr>
        <p:spPr>
          <a:xfrm>
            <a:off x="1104900" y="4674870"/>
            <a:ext cx="361950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черновики пользовательских действий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3D7F7C2-7961-4309-8F7F-F0CE6B01F3FC}"/>
              </a:ext>
            </a:extLst>
          </p:cNvPr>
          <p:cNvSpPr>
            <a:spLocks noGrp="1"/>
          </p:cNvSpPr>
          <p:nvPr/>
        </p:nvSpPr>
        <p:spPr>
          <a:xfrm>
            <a:off x="5334000" y="2209800"/>
            <a:ext cx="6172200" cy="3524250"/>
          </a:xfrm>
          <a:prstGeom prst="rect">
            <a:avLst/>
          </a:prstGeom>
          <a:solidFill>
            <a:srgbClr val="F0E8D5"/>
          </a:solidFill>
          <a:ln w="9525">
            <a:solidFill>
              <a:srgbClr val="F0E8D5"/>
            </a:solidFill>
            <a:prstDash val="solid"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rcRect t="7057" b="7057"/>
          <a:stretch>
            <a:fillRect/>
          </a:stretch>
        </p:blipFill>
        <p:spPr>
          <a:xfrm>
            <a:off x="5600700" y="2457450"/>
            <a:ext cx="5638800" cy="2724150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09B6A22-006D-4593-9605-07B5D83B2163}"/>
              </a:ext>
            </a:extLst>
          </p:cNvPr>
          <p:cNvSpPr>
            <a:spLocks noGrp="1"/>
          </p:cNvSpPr>
          <p:nvPr/>
        </p:nvSpPr>
        <p:spPr>
          <a:xfrm>
            <a:off x="5600700" y="5276850"/>
            <a:ext cx="5429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Цель тестирования — подтвердить базовую работоспособность, отловить дефекты и проверить, что после обновлений старые проблемы действительно исправлены.</a:t>
            </a:r>
          </a:p>
        </p:txBody>
      </p:sp>
    </p:spTree>
    <p:extLst>
      <p:ext uri="{BB962C8B-B14F-4D97-AF65-F5344CB8AC3E}">
        <p14:creationId xmlns:p14="http://schemas.microsoft.com/office/powerpoint/2010/main" val="85390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432B10B5-AC52-4023-A66D-35D8608921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0">
            <a:solidFill>
              <a:srgbClr val="F6F3EE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34AEB75-C49E-4AD8-A12B-760E08BF5FE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E9E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9E73"/>
                </a:solidFill>
                <a:latin typeface="Aptos"/>
                <a:ea typeface="Aptos"/>
                <a:cs typeface="Aptos"/>
              </a:rPr>
              <a:t>QA PACKAGE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6B4A7E9-6EB2-45D2-A52A-8FE606E7493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Что было подготовлено для проверки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33D4EF3-9FFF-4E15-B031-2F01037FBEA6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Тестирование велось не только руками: под проект был собран полноценный пакет QA-артефактов.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01F8667-7537-4B07-ACA5-C816E92F3173}"/>
              </a:ext>
            </a:extLst>
          </p:cNvPr>
          <p:cNvSpPr>
            <a:spLocks noGrp="1"/>
          </p:cNvSpPr>
          <p:nvPr/>
        </p:nvSpPr>
        <p:spPr>
          <a:xfrm>
            <a:off x="11239500" y="381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3980A40-6CB6-4C43-8B22-EB2A07DD02D3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9525"/>
          </a:xfrm>
          <a:prstGeom prst="rect">
            <a:avLst/>
          </a:prstGeom>
          <a:solidFill>
            <a:srgbClr val="DED8CC"/>
          </a:solidFill>
          <a:ln w="0">
            <a:solidFill>
              <a:srgbClr val="DED8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945A5FB-D6B3-45E8-8204-6331C0E74687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3333750" cy="363855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8E2D767-88E3-40A3-8763-6E35455F6892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Документация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4947D24-6400-4EC0-BAAA-00E6DA21E76C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6D6DDD-4E49-4340-82A1-C11B3B6634C9}"/>
              </a:ext>
            </a:extLst>
          </p:cNvPr>
          <p:cNvSpPr>
            <a:spLocks noGrp="1"/>
          </p:cNvSpPr>
          <p:nvPr/>
        </p:nvSpPr>
        <p:spPr>
          <a:xfrm>
            <a:off x="1104900" y="285750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актуализированные test cases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C5588CB-066C-4FC8-AEE7-176A7E36C21C}"/>
              </a:ext>
            </a:extLst>
          </p:cNvPr>
          <p:cNvSpPr>
            <a:spLocks noGrp="1"/>
          </p:cNvSpPr>
          <p:nvPr/>
        </p:nvSpPr>
        <p:spPr>
          <a:xfrm>
            <a:off x="914400" y="334899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C80EF7C-9B23-4E6A-90EA-F18EFF70A516}"/>
              </a:ext>
            </a:extLst>
          </p:cNvPr>
          <p:cNvSpPr>
            <a:spLocks noGrp="1"/>
          </p:cNvSpPr>
          <p:nvPr/>
        </p:nvSpPr>
        <p:spPr>
          <a:xfrm>
            <a:off x="1104900" y="327279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smoke checklist со статусами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F3AE9-1E95-438D-9938-4BFB599723B2}"/>
              </a:ext>
            </a:extLst>
          </p:cNvPr>
          <p:cNvSpPr>
            <a:spLocks noGrp="1"/>
          </p:cNvSpPr>
          <p:nvPr/>
        </p:nvSpPr>
        <p:spPr>
          <a:xfrm>
            <a:off x="914400" y="376428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B07913-377C-40E7-9BA4-E6CA5427ADDD}"/>
              </a:ext>
            </a:extLst>
          </p:cNvPr>
          <p:cNvSpPr>
            <a:spLocks noGrp="1"/>
          </p:cNvSpPr>
          <p:nvPr/>
        </p:nvSpPr>
        <p:spPr>
          <a:xfrm>
            <a:off x="1104900" y="368808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UI-сценарии текущего прогона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0EACF23-E7A1-4589-95E5-18870DC2A03D}"/>
              </a:ext>
            </a:extLst>
          </p:cNvPr>
          <p:cNvSpPr>
            <a:spLocks noGrp="1"/>
          </p:cNvSpPr>
          <p:nvPr/>
        </p:nvSpPr>
        <p:spPr>
          <a:xfrm>
            <a:off x="914400" y="417957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C38C966-B9DA-477A-933B-81F09ED21A97}"/>
              </a:ext>
            </a:extLst>
          </p:cNvPr>
          <p:cNvSpPr>
            <a:spLocks noGrp="1"/>
          </p:cNvSpPr>
          <p:nvPr/>
        </p:nvSpPr>
        <p:spPr>
          <a:xfrm>
            <a:off x="1104900" y="410337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bug reports в формате команды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0E5106E-6901-433A-ACDA-A2DCD7C5E4A8}"/>
              </a:ext>
            </a:extLst>
          </p:cNvPr>
          <p:cNvSpPr>
            <a:spLocks noGrp="1"/>
          </p:cNvSpPr>
          <p:nvPr/>
        </p:nvSpPr>
        <p:spPr>
          <a:xfrm>
            <a:off x="914400" y="459486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70E115D-A017-4431-A29B-727E4CEAF06C}"/>
              </a:ext>
            </a:extLst>
          </p:cNvPr>
          <p:cNvSpPr>
            <a:spLocks noGrp="1"/>
          </p:cNvSpPr>
          <p:nvPr/>
        </p:nvSpPr>
        <p:spPr>
          <a:xfrm>
            <a:off x="1104900" y="451866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отчёты по API и ретесту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6FB43B-55BF-43DE-A05A-7DBB3AA18895}"/>
              </a:ext>
            </a:extLst>
          </p:cNvPr>
          <p:cNvSpPr>
            <a:spLocks noGrp="1"/>
          </p:cNvSpPr>
          <p:nvPr/>
        </p:nvSpPr>
        <p:spPr>
          <a:xfrm>
            <a:off x="4248150" y="2209800"/>
            <a:ext cx="3333750" cy="363855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1473B6F-1B6B-4EFA-86CA-192CA03C0AE2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Инструменты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8102D36-A8FA-4AE7-99B8-4444685B31A1}"/>
              </a:ext>
            </a:extLst>
          </p:cNvPr>
          <p:cNvSpPr>
            <a:spLocks noGrp="1"/>
          </p:cNvSpPr>
          <p:nvPr/>
        </p:nvSpPr>
        <p:spPr>
          <a:xfrm>
            <a:off x="4476750" y="293370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F09EB2B-D78E-4F4C-96E3-49EFCD2E5085}"/>
              </a:ext>
            </a:extLst>
          </p:cNvPr>
          <p:cNvSpPr>
            <a:spLocks noGrp="1"/>
          </p:cNvSpPr>
          <p:nvPr/>
        </p:nvSpPr>
        <p:spPr>
          <a:xfrm>
            <a:off x="4667250" y="285750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Postman для API-проверок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9FD2E5-A166-42FF-A763-5A6DCD82E849}"/>
              </a:ext>
            </a:extLst>
          </p:cNvPr>
          <p:cNvSpPr>
            <a:spLocks noGrp="1"/>
          </p:cNvSpPr>
          <p:nvPr/>
        </p:nvSpPr>
        <p:spPr>
          <a:xfrm>
            <a:off x="4476750" y="334899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8DBEB01-70A7-46BD-9C8B-DA895051DB68}"/>
              </a:ext>
            </a:extLst>
          </p:cNvPr>
          <p:cNvSpPr>
            <a:spLocks noGrp="1"/>
          </p:cNvSpPr>
          <p:nvPr/>
        </p:nvSpPr>
        <p:spPr>
          <a:xfrm>
            <a:off x="4667250" y="327279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локальный frontend/backend стенд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3B8E33E-477B-41E0-859A-C1BAE0B38D2D}"/>
              </a:ext>
            </a:extLst>
          </p:cNvPr>
          <p:cNvSpPr>
            <a:spLocks noGrp="1"/>
          </p:cNvSpPr>
          <p:nvPr/>
        </p:nvSpPr>
        <p:spPr>
          <a:xfrm>
            <a:off x="4476750" y="376428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A093B98-8C82-43A8-A16C-CF80584D8370}"/>
              </a:ext>
            </a:extLst>
          </p:cNvPr>
          <p:cNvSpPr>
            <a:spLocks noGrp="1"/>
          </p:cNvSpPr>
          <p:nvPr/>
        </p:nvSpPr>
        <p:spPr>
          <a:xfrm>
            <a:off x="4667250" y="368808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Docker и PostgreSQL для среды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9648E72-3D39-45CA-A35A-0300787D97BC}"/>
              </a:ext>
            </a:extLst>
          </p:cNvPr>
          <p:cNvSpPr>
            <a:spLocks noGrp="1"/>
          </p:cNvSpPr>
          <p:nvPr/>
        </p:nvSpPr>
        <p:spPr>
          <a:xfrm>
            <a:off x="4476750" y="417957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1E3DB92-517D-47BB-82A0-619C3301F42C}"/>
              </a:ext>
            </a:extLst>
          </p:cNvPr>
          <p:cNvSpPr>
            <a:spLocks noGrp="1"/>
          </p:cNvSpPr>
          <p:nvPr/>
        </p:nvSpPr>
        <p:spPr>
          <a:xfrm>
            <a:off x="4667250" y="410337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Word-документы для отчётности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1952EDC-E53C-4738-93F1-C677370FC8B7}"/>
              </a:ext>
            </a:extLst>
          </p:cNvPr>
          <p:cNvSpPr>
            <a:spLocks noGrp="1"/>
          </p:cNvSpPr>
          <p:nvPr/>
        </p:nvSpPr>
        <p:spPr>
          <a:xfrm>
            <a:off x="4476750" y="459486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0D53C92-EB3D-468C-95A4-A00819E7A08A}"/>
              </a:ext>
            </a:extLst>
          </p:cNvPr>
          <p:cNvSpPr>
            <a:spLocks noGrp="1"/>
          </p:cNvSpPr>
          <p:nvPr/>
        </p:nvSpPr>
        <p:spPr>
          <a:xfrm>
            <a:off x="4667250" y="4518660"/>
            <a:ext cx="25717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живой UI-прогон на localhost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9CACE16-7909-424B-9117-4E0D8217658D}"/>
              </a:ext>
            </a:extLst>
          </p:cNvPr>
          <p:cNvSpPr>
            <a:spLocks noGrp="1"/>
          </p:cNvSpPr>
          <p:nvPr/>
        </p:nvSpPr>
        <p:spPr>
          <a:xfrm>
            <a:off x="7810500" y="2209800"/>
            <a:ext cx="3695700" cy="363855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689AC6E-C506-43B7-A988-463E91FA10D0}"/>
              </a:ext>
            </a:extLst>
          </p:cNvPr>
          <p:cNvSpPr>
            <a:spLocks noGrp="1"/>
          </p:cNvSpPr>
          <p:nvPr/>
        </p:nvSpPr>
        <p:spPr>
          <a:xfrm>
            <a:off x="8039100" y="24765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Формат работы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7C9FA32-D78A-49BB-8A6B-467E9C07FCC5}"/>
              </a:ext>
            </a:extLst>
          </p:cNvPr>
          <p:cNvSpPr>
            <a:spLocks noGrp="1"/>
          </p:cNvSpPr>
          <p:nvPr/>
        </p:nvSpPr>
        <p:spPr>
          <a:xfrm>
            <a:off x="8039100" y="2895600"/>
            <a:ext cx="11430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9097D72-8CD9-425F-83C4-A588DBA7BC06}"/>
              </a:ext>
            </a:extLst>
          </p:cNvPr>
          <p:cNvSpPr>
            <a:spLocks noGrp="1"/>
          </p:cNvSpPr>
          <p:nvPr/>
        </p:nvSpPr>
        <p:spPr>
          <a:xfrm>
            <a:off x="8039100" y="29337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Smoke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A7F2CE9-EA64-445E-A8A8-A8704C3D01CB}"/>
              </a:ext>
            </a:extLst>
          </p:cNvPr>
          <p:cNvSpPr>
            <a:spLocks noGrp="1"/>
          </p:cNvSpPr>
          <p:nvPr/>
        </p:nvSpPr>
        <p:spPr>
          <a:xfrm>
            <a:off x="9258300" y="2895600"/>
            <a:ext cx="11430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5AD118A-E198-419E-A57A-0820C1827BC5}"/>
              </a:ext>
            </a:extLst>
          </p:cNvPr>
          <p:cNvSpPr>
            <a:spLocks noGrp="1"/>
          </p:cNvSpPr>
          <p:nvPr/>
        </p:nvSpPr>
        <p:spPr>
          <a:xfrm>
            <a:off x="9258300" y="29337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E64DF89A-F035-4BBA-91CC-D4BDBD921681}"/>
              </a:ext>
            </a:extLst>
          </p:cNvPr>
          <p:cNvSpPr>
            <a:spLocks noGrp="1"/>
          </p:cNvSpPr>
          <p:nvPr/>
        </p:nvSpPr>
        <p:spPr>
          <a:xfrm>
            <a:off x="10477500" y="2895600"/>
            <a:ext cx="8001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D0A9871F-196F-4BA1-B25D-28131FDE25D7}"/>
              </a:ext>
            </a:extLst>
          </p:cNvPr>
          <p:cNvSpPr>
            <a:spLocks noGrp="1"/>
          </p:cNvSpPr>
          <p:nvPr/>
        </p:nvSpPr>
        <p:spPr>
          <a:xfrm>
            <a:off x="10477500" y="29337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BE2500DB-928D-4E83-BA9C-7B842995D16E}"/>
              </a:ext>
            </a:extLst>
          </p:cNvPr>
          <p:cNvSpPr>
            <a:spLocks noGrp="1"/>
          </p:cNvSpPr>
          <p:nvPr/>
        </p:nvSpPr>
        <p:spPr>
          <a:xfrm>
            <a:off x="8039100" y="344805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7A00934-8185-40B5-87AA-50075FF68F39}"/>
              </a:ext>
            </a:extLst>
          </p:cNvPr>
          <p:cNvSpPr>
            <a:spLocks noGrp="1"/>
          </p:cNvSpPr>
          <p:nvPr/>
        </p:nvSpPr>
        <p:spPr>
          <a:xfrm>
            <a:off x="8229600" y="3371850"/>
            <a:ext cx="28575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сначала прогон критических сценариев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FF5681A-5985-4475-80CC-073B253FBE4D}"/>
              </a:ext>
            </a:extLst>
          </p:cNvPr>
          <p:cNvSpPr>
            <a:spLocks noGrp="1"/>
          </p:cNvSpPr>
          <p:nvPr/>
        </p:nvSpPr>
        <p:spPr>
          <a:xfrm>
            <a:off x="8039100" y="386334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221B08A2-AF0E-4E90-BBC3-BF16CA5DBDFB}"/>
              </a:ext>
            </a:extLst>
          </p:cNvPr>
          <p:cNvSpPr>
            <a:spLocks noGrp="1"/>
          </p:cNvSpPr>
          <p:nvPr/>
        </p:nvSpPr>
        <p:spPr>
          <a:xfrm>
            <a:off x="8229600" y="3787140"/>
            <a:ext cx="28575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затем фиксация дефектов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5F7AD701-3804-4FE6-B2C3-0C14577E75AA}"/>
              </a:ext>
            </a:extLst>
          </p:cNvPr>
          <p:cNvSpPr>
            <a:spLocks noGrp="1"/>
          </p:cNvSpPr>
          <p:nvPr/>
        </p:nvSpPr>
        <p:spPr>
          <a:xfrm>
            <a:off x="8039100" y="427863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FF26DA68-DCD4-4C6D-8B8A-A4792789EA32}"/>
              </a:ext>
            </a:extLst>
          </p:cNvPr>
          <p:cNvSpPr>
            <a:spLocks noGrp="1"/>
          </p:cNvSpPr>
          <p:nvPr/>
        </p:nvSpPr>
        <p:spPr>
          <a:xfrm>
            <a:off x="8229600" y="4202430"/>
            <a:ext cx="28575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после обновлений — отдельный retest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C6D8E383-A64F-45D0-9433-040E5055F929}"/>
              </a:ext>
            </a:extLst>
          </p:cNvPr>
          <p:cNvSpPr>
            <a:spLocks noGrp="1"/>
          </p:cNvSpPr>
          <p:nvPr/>
        </p:nvSpPr>
        <p:spPr>
          <a:xfrm>
            <a:off x="8039100" y="469392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31EA7502-6840-4D33-B02D-B502D11BBA66}"/>
              </a:ext>
            </a:extLst>
          </p:cNvPr>
          <p:cNvSpPr>
            <a:spLocks noGrp="1"/>
          </p:cNvSpPr>
          <p:nvPr/>
        </p:nvSpPr>
        <p:spPr>
          <a:xfrm>
            <a:off x="8229600" y="4617720"/>
            <a:ext cx="28575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результаты сразу заносились в отчёты</a:t>
            </a:r>
          </a:p>
        </p:txBody>
      </p:sp>
    </p:spTree>
    <p:extLst>
      <p:ext uri="{BB962C8B-B14F-4D97-AF65-F5344CB8AC3E}">
        <p14:creationId xmlns:p14="http://schemas.microsoft.com/office/powerpoint/2010/main" val="59209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B26BC07E-FCED-4BFB-B9B3-B3647066F1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0">
            <a:solidFill>
              <a:srgbClr val="F6F3EE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B1B80B6-B587-4EB5-8BAB-59FFC70A9BB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E9E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9E7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438F55-3565-4D55-8200-AAB0279882F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Что именно удалось протестировать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D69753D-2715-4573-AEC2-D42AE8DFC02E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Регрессия строилась вокруг реально работающего функционала и уже найденных проблемных мест.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07F38FA-2651-47DD-8E08-BD778ADEDEF6}"/>
              </a:ext>
            </a:extLst>
          </p:cNvPr>
          <p:cNvSpPr>
            <a:spLocks noGrp="1"/>
          </p:cNvSpPr>
          <p:nvPr/>
        </p:nvSpPr>
        <p:spPr>
          <a:xfrm>
            <a:off x="11239500" y="381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7F04F1-6F85-4F5D-93DB-DADBD27C4A86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9525"/>
          </a:xfrm>
          <a:prstGeom prst="rect">
            <a:avLst/>
          </a:prstGeom>
          <a:solidFill>
            <a:srgbClr val="DED8CC"/>
          </a:solidFill>
          <a:ln w="0">
            <a:solidFill>
              <a:srgbClr val="DED8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7309C4-B8E2-4522-B8DF-904F84ECDFC8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5219700" cy="8382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2A6A50-0F2B-433B-B0A2-2A2100B83764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Авторизация UI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979DDF7-B7E5-4F91-BD4B-4CB5A3652C11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login, invalid password, logout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A4E8AD-270D-4A9A-ACAD-D1561424679C}"/>
              </a:ext>
            </a:extLst>
          </p:cNvPr>
          <p:cNvSpPr>
            <a:spLocks noGrp="1"/>
          </p:cNvSpPr>
          <p:nvPr/>
        </p:nvSpPr>
        <p:spPr>
          <a:xfrm>
            <a:off x="4686300" y="2495550"/>
            <a:ext cx="9144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BD99A6-B71C-49B8-BCEE-1D6E63605807}"/>
              </a:ext>
            </a:extLst>
          </p:cNvPr>
          <p:cNvSpPr>
            <a:spLocks noGrp="1"/>
          </p:cNvSpPr>
          <p:nvPr/>
        </p:nvSpPr>
        <p:spPr>
          <a:xfrm>
            <a:off x="4686300" y="25336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50E020B-CA95-4672-8AA8-A4E8885641B5}"/>
              </a:ext>
            </a:extLst>
          </p:cNvPr>
          <p:cNvSpPr>
            <a:spLocks noGrp="1"/>
          </p:cNvSpPr>
          <p:nvPr/>
        </p:nvSpPr>
        <p:spPr>
          <a:xfrm>
            <a:off x="6096000" y="2228850"/>
            <a:ext cx="5219700" cy="8382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A83B433-C4B5-4560-A4F9-E7F7B1C4BAC2}"/>
              </a:ext>
            </a:extLst>
          </p:cNvPr>
          <p:cNvSpPr>
            <a:spLocks noGrp="1"/>
          </p:cNvSpPr>
          <p:nvPr/>
        </p:nvSpPr>
        <p:spPr>
          <a:xfrm>
            <a:off x="6286500" y="24003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Smoke по проектам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9474CA8-BAB5-4BF7-86CF-98B761A73967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список проектов, открытие и переключение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C6D8A8-EC10-46FD-BC05-7AE566934EBF}"/>
              </a:ext>
            </a:extLst>
          </p:cNvPr>
          <p:cNvSpPr>
            <a:spLocks noGrp="1"/>
          </p:cNvSpPr>
          <p:nvPr/>
        </p:nvSpPr>
        <p:spPr>
          <a:xfrm>
            <a:off x="10096500" y="2495550"/>
            <a:ext cx="9144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0602541-9669-4F19-864E-BA27A4A83A73}"/>
              </a:ext>
            </a:extLst>
          </p:cNvPr>
          <p:cNvSpPr>
            <a:spLocks noGrp="1"/>
          </p:cNvSpPr>
          <p:nvPr/>
        </p:nvSpPr>
        <p:spPr>
          <a:xfrm>
            <a:off x="10096500" y="25336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C8DB3E8-08B4-4096-A135-D0A5CB719942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5219700" cy="8382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03D41B2-D76D-4585-987C-B8E2E433AF1A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Предложения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2F1D067-CDC4-4C0F-A4E7-A7483B219EEA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создание, пустая форма, открытие карточки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B290846-1A69-4BD1-871B-DEE74B15AE9B}"/>
              </a:ext>
            </a:extLst>
          </p:cNvPr>
          <p:cNvSpPr>
            <a:spLocks noGrp="1"/>
          </p:cNvSpPr>
          <p:nvPr/>
        </p:nvSpPr>
        <p:spPr>
          <a:xfrm>
            <a:off x="4686300" y="3505200"/>
            <a:ext cx="9144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779C90F-A5FF-4F88-B73F-E2616F46C2FD}"/>
              </a:ext>
            </a:extLst>
          </p:cNvPr>
          <p:cNvSpPr>
            <a:spLocks noGrp="1"/>
          </p:cNvSpPr>
          <p:nvPr/>
        </p:nvSpPr>
        <p:spPr>
          <a:xfrm>
            <a:off x="4686300" y="35433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E92D858-BAF7-4FDB-BB7E-F6B8FB3E6067}"/>
              </a:ext>
            </a:extLst>
          </p:cNvPr>
          <p:cNvSpPr>
            <a:spLocks noGrp="1"/>
          </p:cNvSpPr>
          <p:nvPr/>
        </p:nvSpPr>
        <p:spPr>
          <a:xfrm>
            <a:off x="6096000" y="3238500"/>
            <a:ext cx="5219700" cy="8382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778EDDF-7917-4070-B852-771A26510F9A}"/>
              </a:ext>
            </a:extLst>
          </p:cNvPr>
          <p:cNvSpPr>
            <a:spLocks noGrp="1"/>
          </p:cNvSpPr>
          <p:nvPr/>
        </p:nvSpPr>
        <p:spPr>
          <a:xfrm>
            <a:off x="6286500" y="3409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Комментарии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4CB543C-690D-4CCC-B8C9-23454DA837E2}"/>
              </a:ext>
            </a:extLst>
          </p:cNvPr>
          <p:cNvSpPr>
            <a:spLocks noGrp="1"/>
          </p:cNvSpPr>
          <p:nvPr/>
        </p:nvSpPr>
        <p:spPr>
          <a:xfrm>
            <a:off x="6286500" y="36766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добавление и мгновенное отображение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F8741D3-288F-4B9F-916E-64D0A335041E}"/>
              </a:ext>
            </a:extLst>
          </p:cNvPr>
          <p:cNvSpPr>
            <a:spLocks noGrp="1"/>
          </p:cNvSpPr>
          <p:nvPr/>
        </p:nvSpPr>
        <p:spPr>
          <a:xfrm>
            <a:off x="10096500" y="3505200"/>
            <a:ext cx="9144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C4EC66FD-8B49-48B4-98EA-BD06EA175AD0}"/>
              </a:ext>
            </a:extLst>
          </p:cNvPr>
          <p:cNvSpPr>
            <a:spLocks noGrp="1"/>
          </p:cNvSpPr>
          <p:nvPr/>
        </p:nvSpPr>
        <p:spPr>
          <a:xfrm>
            <a:off x="10096500" y="35433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211E4EE-61C6-4FA6-9799-2672EEF429B0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5219700" cy="8382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48275C1-C63C-43E7-BD1F-EDA3F467B20B}"/>
              </a:ext>
            </a:extLst>
          </p:cNvPr>
          <p:cNvSpPr>
            <a:spLocks noGrp="1"/>
          </p:cNvSpPr>
          <p:nvPr/>
        </p:nvSpPr>
        <p:spPr>
          <a:xfrm>
            <a:off x="876300" y="44196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Участники проекта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3E65E03-D5A1-436A-87FD-42156757DF49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просмотр, роли, бизнес-ограничения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55CC3E0-78F6-4185-A79A-6A920BECDA10}"/>
              </a:ext>
            </a:extLst>
          </p:cNvPr>
          <p:cNvSpPr>
            <a:spLocks noGrp="1"/>
          </p:cNvSpPr>
          <p:nvPr/>
        </p:nvSpPr>
        <p:spPr>
          <a:xfrm>
            <a:off x="4686300" y="4514850"/>
            <a:ext cx="9144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5A63DAF-68AB-46A2-8E50-AD2B0CE752CF}"/>
              </a:ext>
            </a:extLst>
          </p:cNvPr>
          <p:cNvSpPr>
            <a:spLocks noGrp="1"/>
          </p:cNvSpPr>
          <p:nvPr/>
        </p:nvSpPr>
        <p:spPr>
          <a:xfrm>
            <a:off x="4686300" y="45529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6E57B50-FF9B-47DB-928C-357BE7B6A61E}"/>
              </a:ext>
            </a:extLst>
          </p:cNvPr>
          <p:cNvSpPr>
            <a:spLocks noGrp="1"/>
          </p:cNvSpPr>
          <p:nvPr/>
        </p:nvSpPr>
        <p:spPr>
          <a:xfrm>
            <a:off x="6096000" y="4248150"/>
            <a:ext cx="5219700" cy="8382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AB4FD8A-E9C5-4A07-AB1C-88156CB42233}"/>
              </a:ext>
            </a:extLst>
          </p:cNvPr>
          <p:cNvSpPr>
            <a:spLocks noGrp="1"/>
          </p:cNvSpPr>
          <p:nvPr/>
        </p:nvSpPr>
        <p:spPr>
          <a:xfrm>
            <a:off x="6286500" y="44196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Auth API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D4E1295-F1BD-4ED3-ADE3-45522AB307E7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8 сценариев через Postman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9DF358C-91B5-4C0E-8778-5DE538B762A2}"/>
              </a:ext>
            </a:extLst>
          </p:cNvPr>
          <p:cNvSpPr>
            <a:spLocks noGrp="1"/>
          </p:cNvSpPr>
          <p:nvPr/>
        </p:nvSpPr>
        <p:spPr>
          <a:xfrm>
            <a:off x="10096500" y="4514850"/>
            <a:ext cx="9144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B39517F-4B24-47A2-ACC6-4414601B7348}"/>
              </a:ext>
            </a:extLst>
          </p:cNvPr>
          <p:cNvSpPr>
            <a:spLocks noGrp="1"/>
          </p:cNvSpPr>
          <p:nvPr/>
        </p:nvSpPr>
        <p:spPr>
          <a:xfrm>
            <a:off x="10096500" y="455295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 dirty="0">
                <a:solidFill>
                  <a:srgbClr val="3C664D"/>
                </a:solidFill>
                <a:latin typeface="Aptos"/>
                <a:ea typeface="Aptos"/>
                <a:cs typeface="Aptos"/>
              </a:rPr>
              <a:t>Passed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3F87236-1093-468B-9B0E-828178576B84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5219700" cy="8382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7DB4C6D-1881-418B-AECC-A040767993AA}"/>
              </a:ext>
            </a:extLst>
          </p:cNvPr>
          <p:cNvSpPr>
            <a:spLocks noGrp="1"/>
          </p:cNvSpPr>
          <p:nvPr/>
        </p:nvSpPr>
        <p:spPr>
          <a:xfrm>
            <a:off x="876300" y="54292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Retest дефектов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C4ADEF6-6AC4-406D-9CE2-0655D7BB0184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5 ранее зарегистрированных багов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400B55E2-EF31-4216-932E-C14ADD791C2F}"/>
              </a:ext>
            </a:extLst>
          </p:cNvPr>
          <p:cNvSpPr>
            <a:spLocks noGrp="1"/>
          </p:cNvSpPr>
          <p:nvPr/>
        </p:nvSpPr>
        <p:spPr>
          <a:xfrm>
            <a:off x="4686300" y="5524500"/>
            <a:ext cx="914400" cy="247650"/>
          </a:xfrm>
          <a:prstGeom prst="rect">
            <a:avLst/>
          </a:prstGeom>
          <a:solidFill>
            <a:srgbClr val="F6E9B5"/>
          </a:solidFill>
          <a:ln w="9525">
            <a:solidFill>
              <a:srgbClr val="F6E9B5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CC85420-A839-48DC-9F82-5640AB3C541E}"/>
              </a:ext>
            </a:extLst>
          </p:cNvPr>
          <p:cNvSpPr>
            <a:spLocks noGrp="1"/>
          </p:cNvSpPr>
          <p:nvPr/>
        </p:nvSpPr>
        <p:spPr>
          <a:xfrm>
            <a:off x="4686300" y="55626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9A7B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7B1E"/>
                </a:solidFill>
                <a:latin typeface="Aptos"/>
                <a:ea typeface="Aptos"/>
                <a:cs typeface="Aptos"/>
              </a:rPr>
              <a:t>Partially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0AFCDCCC-8BFA-40C1-ADE0-B94EEA8ABEBB}"/>
              </a:ext>
            </a:extLst>
          </p:cNvPr>
          <p:cNvSpPr>
            <a:spLocks noGrp="1"/>
          </p:cNvSpPr>
          <p:nvPr/>
        </p:nvSpPr>
        <p:spPr>
          <a:xfrm>
            <a:off x="6096000" y="5257800"/>
            <a:ext cx="5219700" cy="8382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A7D2456B-BC61-4A16-B643-33ED0496A471}"/>
              </a:ext>
            </a:extLst>
          </p:cNvPr>
          <p:cNvSpPr>
            <a:spLocks noGrp="1"/>
          </p:cNvSpPr>
          <p:nvPr/>
        </p:nvSpPr>
        <p:spPr>
          <a:xfrm>
            <a:off x="6286500" y="54292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Non-auth API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D26686BE-41B9-4EF0-8E72-1B5FD847A1EE}"/>
              </a:ext>
            </a:extLst>
          </p:cNvPr>
          <p:cNvSpPr>
            <a:spLocks noGrp="1"/>
          </p:cNvSpPr>
          <p:nvPr/>
        </p:nvSpPr>
        <p:spPr>
          <a:xfrm>
            <a:off x="6286500" y="56959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коллекции и отчёты подготовлены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D755F283-BDC7-40AF-9561-AEF2CCB3D3AC}"/>
              </a:ext>
            </a:extLst>
          </p:cNvPr>
          <p:cNvSpPr>
            <a:spLocks noGrp="1"/>
          </p:cNvSpPr>
          <p:nvPr/>
        </p:nvSpPr>
        <p:spPr>
          <a:xfrm>
            <a:off x="10096500" y="5524500"/>
            <a:ext cx="914400" cy="247650"/>
          </a:xfrm>
          <a:prstGeom prst="rect">
            <a:avLst/>
          </a:prstGeom>
          <a:solidFill>
            <a:srgbClr val="F4D8D8"/>
          </a:solidFill>
          <a:ln w="9525">
            <a:solidFill>
              <a:srgbClr val="F4D8D8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ADDA09FE-0252-4281-AAC0-75119DEA734A}"/>
              </a:ext>
            </a:extLst>
          </p:cNvPr>
          <p:cNvSpPr>
            <a:spLocks noGrp="1"/>
          </p:cNvSpPr>
          <p:nvPr/>
        </p:nvSpPr>
        <p:spPr>
          <a:xfrm>
            <a:off x="10096500" y="55626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A84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4F4F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</p:spTree>
    <p:extLst>
      <p:ext uri="{BB962C8B-B14F-4D97-AF65-F5344CB8AC3E}">
        <p14:creationId xmlns:p14="http://schemas.microsoft.com/office/powerpoint/2010/main" val="199730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B4001F9B-D54C-4DFA-AEA5-0B97C79ED8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0">
            <a:solidFill>
              <a:srgbClr val="F6F3EE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F1B36C-BA6C-46B8-969B-A897BE9AF627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E9E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9E73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4396BC4-2388-4EB8-AB3B-FACAACEA10C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Результаты прогона в цифрах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2A5E56-9423-4098-898B-0FC232E20BB3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Короткая сводка того, что удалось подтвердить и что осталось в рисках.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4E585D8-6AA4-498D-BE64-DC9832D07F55}"/>
              </a:ext>
            </a:extLst>
          </p:cNvPr>
          <p:cNvSpPr>
            <a:spLocks noGrp="1"/>
          </p:cNvSpPr>
          <p:nvPr/>
        </p:nvSpPr>
        <p:spPr>
          <a:xfrm>
            <a:off x="11239500" y="381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39EC4BE-2F77-4368-950B-07C6F627DB9C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9525"/>
          </a:xfrm>
          <a:prstGeom prst="rect">
            <a:avLst/>
          </a:prstGeom>
          <a:solidFill>
            <a:srgbClr val="DED8CC"/>
          </a:solidFill>
          <a:ln w="0">
            <a:solidFill>
              <a:srgbClr val="DED8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04369F-A0F7-4CFF-8E36-370F6B1A7589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2381250" cy="12001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F97A4E4-A9D7-400D-BA1D-391E69C743B5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038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8 / 8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903104F-47B7-4384-9EDE-D044A8C3EA7F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2038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auth API сценариев пройдено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D7BEDC6-82F4-419A-9A3D-F989455F4FC2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2038350" cy="38100"/>
          </a:xfrm>
          <a:prstGeom prst="rect">
            <a:avLst/>
          </a:prstGeom>
          <a:solidFill>
            <a:srgbClr val="3C664D"/>
          </a:solidFill>
          <a:ln w="0">
            <a:solidFill>
              <a:srgbClr val="3C664D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61F7C0C-C222-4290-AB84-3559A9B9A1AA}"/>
              </a:ext>
            </a:extLst>
          </p:cNvPr>
          <p:cNvSpPr>
            <a:spLocks noGrp="1"/>
          </p:cNvSpPr>
          <p:nvPr/>
        </p:nvSpPr>
        <p:spPr>
          <a:xfrm>
            <a:off x="3276600" y="2228850"/>
            <a:ext cx="2381250" cy="1200150"/>
          </a:xfrm>
          <a:prstGeom prst="rect">
            <a:avLst/>
          </a:prstGeom>
          <a:solidFill>
            <a:srgbClr val="F6E9B5"/>
          </a:solidFill>
          <a:ln w="9525">
            <a:solidFill>
              <a:srgbClr val="F6E9B5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A834136-AA4F-49AD-8861-9E87B891EECC}"/>
              </a:ext>
            </a:extLst>
          </p:cNvPr>
          <p:cNvSpPr>
            <a:spLocks noGrp="1"/>
          </p:cNvSpPr>
          <p:nvPr/>
        </p:nvSpPr>
        <p:spPr>
          <a:xfrm>
            <a:off x="3448050" y="2381250"/>
            <a:ext cx="2038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41B0C09-F127-4FE0-B976-8B34E039C46A}"/>
              </a:ext>
            </a:extLst>
          </p:cNvPr>
          <p:cNvSpPr>
            <a:spLocks noGrp="1"/>
          </p:cNvSpPr>
          <p:nvPr/>
        </p:nvSpPr>
        <p:spPr>
          <a:xfrm>
            <a:off x="3448050" y="2762250"/>
            <a:ext cx="2038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подтверждённых багов было заведено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F813356-CAB4-416B-B896-818A294DDA4F}"/>
              </a:ext>
            </a:extLst>
          </p:cNvPr>
          <p:cNvSpPr>
            <a:spLocks noGrp="1"/>
          </p:cNvSpPr>
          <p:nvPr/>
        </p:nvSpPr>
        <p:spPr>
          <a:xfrm>
            <a:off x="3448050" y="3295650"/>
            <a:ext cx="2038350" cy="381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64ADE63-BF31-479B-998D-931FC2EB72F5}"/>
              </a:ext>
            </a:extLst>
          </p:cNvPr>
          <p:cNvSpPr>
            <a:spLocks noGrp="1"/>
          </p:cNvSpPr>
          <p:nvPr/>
        </p:nvSpPr>
        <p:spPr>
          <a:xfrm>
            <a:off x="5867400" y="2228850"/>
            <a:ext cx="2381250" cy="1200150"/>
          </a:xfrm>
          <a:prstGeom prst="rect">
            <a:avLst/>
          </a:prstGeom>
          <a:solidFill>
            <a:srgbClr val="E8EEDB"/>
          </a:solidFill>
          <a:ln w="9525">
            <a:solidFill>
              <a:srgbClr val="E8EEDB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0EF310E-6C42-4FD6-96F2-2734026FCD6B}"/>
              </a:ext>
            </a:extLst>
          </p:cNvPr>
          <p:cNvSpPr>
            <a:spLocks noGrp="1"/>
          </p:cNvSpPr>
          <p:nvPr/>
        </p:nvSpPr>
        <p:spPr>
          <a:xfrm>
            <a:off x="6038850" y="2381250"/>
            <a:ext cx="2038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4 / 5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D6DDCEA-AD41-48CF-A6FA-685AE636ACA4}"/>
              </a:ext>
            </a:extLst>
          </p:cNvPr>
          <p:cNvSpPr>
            <a:spLocks noGrp="1"/>
          </p:cNvSpPr>
          <p:nvPr/>
        </p:nvSpPr>
        <p:spPr>
          <a:xfrm>
            <a:off x="6038850" y="2762250"/>
            <a:ext cx="2038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багов закрыто после ретеста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FC41F7C-C45A-45C5-B2A9-0F011501B824}"/>
              </a:ext>
            </a:extLst>
          </p:cNvPr>
          <p:cNvSpPr>
            <a:spLocks noGrp="1"/>
          </p:cNvSpPr>
          <p:nvPr/>
        </p:nvSpPr>
        <p:spPr>
          <a:xfrm>
            <a:off x="6038850" y="3295650"/>
            <a:ext cx="2038350" cy="38100"/>
          </a:xfrm>
          <a:prstGeom prst="rect">
            <a:avLst/>
          </a:prstGeom>
          <a:solidFill>
            <a:srgbClr val="8E9E73"/>
          </a:solidFill>
          <a:ln w="0">
            <a:solidFill>
              <a:srgbClr val="8E9E73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37544FB-86FB-498E-A043-9D45F3F24D16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381250" cy="1200150"/>
          </a:xfrm>
          <a:prstGeom prst="rect">
            <a:avLst/>
          </a:prstGeom>
          <a:solidFill>
            <a:srgbClr val="F4D8D8"/>
          </a:solidFill>
          <a:ln w="9525">
            <a:solidFill>
              <a:srgbClr val="F4D8D8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F2376CC-F88B-404E-9590-D5A5830C3E20}"/>
              </a:ext>
            </a:extLst>
          </p:cNvPr>
          <p:cNvSpPr>
            <a:spLocks noGrp="1"/>
          </p:cNvSpPr>
          <p:nvPr/>
        </p:nvSpPr>
        <p:spPr>
          <a:xfrm>
            <a:off x="8629650" y="2381250"/>
            <a:ext cx="2038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8F9BE31-D731-4922-A02C-79A689C3F470}"/>
              </a:ext>
            </a:extLst>
          </p:cNvPr>
          <p:cNvSpPr>
            <a:spLocks noGrp="1"/>
          </p:cNvSpPr>
          <p:nvPr/>
        </p:nvSpPr>
        <p:spPr>
          <a:xfrm>
            <a:off x="8629650" y="2762250"/>
            <a:ext cx="2038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дефект остался актуальным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3DFD8EF-AE83-4604-94B3-22EBAE1FD100}"/>
              </a:ext>
            </a:extLst>
          </p:cNvPr>
          <p:cNvSpPr>
            <a:spLocks noGrp="1"/>
          </p:cNvSpPr>
          <p:nvPr/>
        </p:nvSpPr>
        <p:spPr>
          <a:xfrm>
            <a:off x="8629650" y="3295650"/>
            <a:ext cx="2038350" cy="38100"/>
          </a:xfrm>
          <a:prstGeom prst="rect">
            <a:avLst/>
          </a:prstGeom>
          <a:solidFill>
            <a:srgbClr val="A84F4F"/>
          </a:solidFill>
          <a:ln w="0">
            <a:solidFill>
              <a:srgbClr val="A84F4F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935EFE9-4503-4212-957A-A8DE0C12E6F3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5067300" cy="245745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F96D1DF-B837-4145-B7BC-E816097141BB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Что прошло стабильно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0F31541B-0A1D-4D99-ADE5-B34B52724B70}"/>
              </a:ext>
            </a:extLst>
          </p:cNvPr>
          <p:cNvSpPr>
            <a:spLocks noGrp="1"/>
          </p:cNvSpPr>
          <p:nvPr/>
        </p:nvSpPr>
        <p:spPr>
          <a:xfrm>
            <a:off x="914400" y="447675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356B23B-06EB-4023-AEDC-59B2116C5113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4191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логин, logout и refresh токена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B823BE1-C1FC-401F-8E6C-1E1E8849BD96}"/>
              </a:ext>
            </a:extLst>
          </p:cNvPr>
          <p:cNvSpPr>
            <a:spLocks noGrp="1"/>
          </p:cNvSpPr>
          <p:nvPr/>
        </p:nvSpPr>
        <p:spPr>
          <a:xfrm>
            <a:off x="914400" y="489204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CE595BB-7683-4A5C-B7A7-66EE74048E7E}"/>
              </a:ext>
            </a:extLst>
          </p:cNvPr>
          <p:cNvSpPr>
            <a:spLocks noGrp="1"/>
          </p:cNvSpPr>
          <p:nvPr/>
        </p:nvSpPr>
        <p:spPr>
          <a:xfrm>
            <a:off x="1104900" y="4815840"/>
            <a:ext cx="4191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создание и открытие предложения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838D272-202C-4EA8-8026-863CDE38B981}"/>
              </a:ext>
            </a:extLst>
          </p:cNvPr>
          <p:cNvSpPr>
            <a:spLocks noGrp="1"/>
          </p:cNvSpPr>
          <p:nvPr/>
        </p:nvSpPr>
        <p:spPr>
          <a:xfrm>
            <a:off x="914400" y="530733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E66AABD-77C7-4878-981E-0B5087995CB4}"/>
              </a:ext>
            </a:extLst>
          </p:cNvPr>
          <p:cNvSpPr>
            <a:spLocks noGrp="1"/>
          </p:cNvSpPr>
          <p:nvPr/>
        </p:nvSpPr>
        <p:spPr>
          <a:xfrm>
            <a:off x="1104900" y="5231130"/>
            <a:ext cx="4191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отображение проекта и участников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F17DDEA-9659-4726-A7E4-8CFA009F86F5}"/>
              </a:ext>
            </a:extLst>
          </p:cNvPr>
          <p:cNvSpPr>
            <a:spLocks noGrp="1"/>
          </p:cNvSpPr>
          <p:nvPr/>
        </p:nvSpPr>
        <p:spPr>
          <a:xfrm>
            <a:off x="914400" y="572262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34D63B07-2D8F-49C1-9243-6E8983F9A629}"/>
              </a:ext>
            </a:extLst>
          </p:cNvPr>
          <p:cNvSpPr>
            <a:spLocks noGrp="1"/>
          </p:cNvSpPr>
          <p:nvPr/>
        </p:nvSpPr>
        <p:spPr>
          <a:xfrm>
            <a:off x="1104900" y="5646420"/>
            <a:ext cx="4191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комментарии без ручного reload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DFFDAAD-3F66-4CFB-A13F-4350894DBDE3}"/>
              </a:ext>
            </a:extLst>
          </p:cNvPr>
          <p:cNvSpPr>
            <a:spLocks noGrp="1"/>
          </p:cNvSpPr>
          <p:nvPr/>
        </p:nvSpPr>
        <p:spPr>
          <a:xfrm>
            <a:off x="5981700" y="3733800"/>
            <a:ext cx="5524500" cy="2457450"/>
          </a:xfrm>
          <a:prstGeom prst="rect">
            <a:avLst/>
          </a:prstGeom>
          <a:solidFill>
            <a:srgbClr val="F3ECE2"/>
          </a:solidFill>
          <a:ln w="9525">
            <a:solidFill>
              <a:srgbClr val="F3ECE2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AE6AFFA-2B4F-4544-9013-6E000DAF80BD}"/>
              </a:ext>
            </a:extLst>
          </p:cNvPr>
          <p:cNvSpPr>
            <a:spLocks noGrp="1"/>
          </p:cNvSpPr>
          <p:nvPr/>
        </p:nvSpPr>
        <p:spPr>
          <a:xfrm>
            <a:off x="6210300" y="40005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Что остаётся в рисках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BC8D20BA-2358-4DF8-8C2A-84CB03B700F7}"/>
              </a:ext>
            </a:extLst>
          </p:cNvPr>
          <p:cNvSpPr>
            <a:spLocks noGrp="1"/>
          </p:cNvSpPr>
          <p:nvPr/>
        </p:nvSpPr>
        <p:spPr>
          <a:xfrm>
            <a:off x="6210300" y="447675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ABD5977-484D-4E8F-BBEF-EF080112B669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4572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опасное изменение роли участника всё ещё без подтверждения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6206BB6-1CB9-4C49-885A-8729F2015A81}"/>
              </a:ext>
            </a:extLst>
          </p:cNvPr>
          <p:cNvSpPr>
            <a:spLocks noGrp="1"/>
          </p:cNvSpPr>
          <p:nvPr/>
        </p:nvSpPr>
        <p:spPr>
          <a:xfrm>
            <a:off x="6210300" y="489204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C8DE924E-EE64-46DD-8277-72F226C21437}"/>
              </a:ext>
            </a:extLst>
          </p:cNvPr>
          <p:cNvSpPr>
            <a:spLocks noGrp="1"/>
          </p:cNvSpPr>
          <p:nvPr/>
        </p:nvSpPr>
        <p:spPr>
          <a:xfrm>
            <a:off x="6400800" y="4815840"/>
            <a:ext cx="4572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полный прогон non-auth API нужно добить отдельно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46B443F-5102-47D0-9791-70157A339394}"/>
              </a:ext>
            </a:extLst>
          </p:cNvPr>
          <p:cNvSpPr>
            <a:spLocks noGrp="1"/>
          </p:cNvSpPr>
          <p:nvPr/>
        </p:nvSpPr>
        <p:spPr>
          <a:xfrm>
            <a:off x="6210300" y="530733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E8CE1BE-1F97-4370-AF10-2EBFE0551A55}"/>
              </a:ext>
            </a:extLst>
          </p:cNvPr>
          <p:cNvSpPr>
            <a:spLocks noGrp="1"/>
          </p:cNvSpPr>
          <p:nvPr/>
        </p:nvSpPr>
        <p:spPr>
          <a:xfrm>
            <a:off x="6400800" y="5231130"/>
            <a:ext cx="4572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административные сценарии требуют ещё одного короткого retest после фикса</a:t>
            </a:r>
          </a:p>
        </p:txBody>
      </p:sp>
    </p:spTree>
    <p:extLst>
      <p:ext uri="{BB962C8B-B14F-4D97-AF65-F5344CB8AC3E}">
        <p14:creationId xmlns:p14="http://schemas.microsoft.com/office/powerpoint/2010/main" val="80013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BD248ACD-1B69-48BA-A90C-AC68B25098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0">
            <a:solidFill>
              <a:srgbClr val="F6F3EE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7D3D1D9-EC6B-4FF7-B8A3-9AA7414C2A6A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E9E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9E73"/>
                </a:solidFill>
                <a:latin typeface="Aptos"/>
                <a:ea typeface="Aptos"/>
                <a:cs typeface="Aptos"/>
              </a:rPr>
              <a:t>BUGS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5E2A1A-6894-47FF-927B-C59A3A56B8A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Ключевые дефекты, найденные в ходе тестирования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012E76-B42C-41A9-A3FF-1071FAE1325A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Во время прогона были зафиксированы как функциональные баги, так и проблемы бизнес-логики.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3E1E948-A2C8-4844-B274-474CBD730BD0}"/>
              </a:ext>
            </a:extLst>
          </p:cNvPr>
          <p:cNvSpPr>
            <a:spLocks noGrp="1"/>
          </p:cNvSpPr>
          <p:nvPr/>
        </p:nvSpPr>
        <p:spPr>
          <a:xfrm>
            <a:off x="11239500" y="381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8F6B61-F0F9-4E40-804E-0A34A51F65AA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9525"/>
          </a:xfrm>
          <a:prstGeom prst="rect">
            <a:avLst/>
          </a:prstGeom>
          <a:solidFill>
            <a:srgbClr val="DED8CC"/>
          </a:solidFill>
          <a:ln w="0">
            <a:solidFill>
              <a:srgbClr val="DED8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9F2B3F4-E88F-4AE5-9D1A-BF856ACA039E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800100" cy="323850"/>
          </a:xfrm>
          <a:prstGeom prst="rect">
            <a:avLst/>
          </a:prstGeom>
          <a:solidFill>
            <a:srgbClr val="EDE7DD"/>
          </a:solidFill>
          <a:ln w="9525">
            <a:solidFill>
              <a:srgbClr val="EDE7DD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C71A216-35F0-4392-8AE0-93C19701E477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647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B633C2-D140-48E9-8E56-89692A331D3B}"/>
              </a:ext>
            </a:extLst>
          </p:cNvPr>
          <p:cNvSpPr>
            <a:spLocks noGrp="1"/>
          </p:cNvSpPr>
          <p:nvPr/>
        </p:nvSpPr>
        <p:spPr>
          <a:xfrm>
            <a:off x="1543050" y="2286000"/>
            <a:ext cx="4476750" cy="323850"/>
          </a:xfrm>
          <a:prstGeom prst="rect">
            <a:avLst/>
          </a:prstGeom>
          <a:solidFill>
            <a:srgbClr val="EDE7DD"/>
          </a:solidFill>
          <a:ln w="9525">
            <a:solidFill>
              <a:srgbClr val="EDE7DD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08FD4E2-5522-4182-9FC0-1A2A721CDB56}"/>
              </a:ext>
            </a:extLst>
          </p:cNvPr>
          <p:cNvSpPr>
            <a:spLocks noGrp="1"/>
          </p:cNvSpPr>
          <p:nvPr/>
        </p:nvSpPr>
        <p:spPr>
          <a:xfrm>
            <a:off x="1619250" y="2362200"/>
            <a:ext cx="432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Дефект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61F8ABC-6881-47AA-AA4C-108064A24276}"/>
              </a:ext>
            </a:extLst>
          </p:cNvPr>
          <p:cNvSpPr>
            <a:spLocks noGrp="1"/>
          </p:cNvSpPr>
          <p:nvPr/>
        </p:nvSpPr>
        <p:spPr>
          <a:xfrm>
            <a:off x="6076950" y="2286000"/>
            <a:ext cx="1238250" cy="323850"/>
          </a:xfrm>
          <a:prstGeom prst="rect">
            <a:avLst/>
          </a:prstGeom>
          <a:solidFill>
            <a:srgbClr val="EDE7DD"/>
          </a:solidFill>
          <a:ln w="9525">
            <a:solidFill>
              <a:srgbClr val="EDE7DD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85BB53D-F93E-4EDA-8472-4A631CA98740}"/>
              </a:ext>
            </a:extLst>
          </p:cNvPr>
          <p:cNvSpPr>
            <a:spLocks noGrp="1"/>
          </p:cNvSpPr>
          <p:nvPr/>
        </p:nvSpPr>
        <p:spPr>
          <a:xfrm>
            <a:off x="6153150" y="2362200"/>
            <a:ext cx="1085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Статус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6149BDF-533E-4355-B22E-E65994CF5C85}"/>
              </a:ext>
            </a:extLst>
          </p:cNvPr>
          <p:cNvSpPr>
            <a:spLocks noGrp="1"/>
          </p:cNvSpPr>
          <p:nvPr/>
        </p:nvSpPr>
        <p:spPr>
          <a:xfrm>
            <a:off x="7372350" y="2286000"/>
            <a:ext cx="3390900" cy="323850"/>
          </a:xfrm>
          <a:prstGeom prst="rect">
            <a:avLst/>
          </a:prstGeom>
          <a:solidFill>
            <a:srgbClr val="EDE7DD"/>
          </a:solidFill>
          <a:ln w="9525">
            <a:solidFill>
              <a:srgbClr val="EDE7DD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B4B02D2-FFAD-4931-BECE-008307C2126D}"/>
              </a:ext>
            </a:extLst>
          </p:cNvPr>
          <p:cNvSpPr>
            <a:spLocks noGrp="1"/>
          </p:cNvSpPr>
          <p:nvPr/>
        </p:nvSpPr>
        <p:spPr>
          <a:xfrm>
            <a:off x="7448550" y="2362200"/>
            <a:ext cx="323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1A1A"/>
                </a:solidFill>
                <a:latin typeface="Aptos"/>
                <a:ea typeface="Aptos"/>
                <a:cs typeface="Aptos"/>
              </a:rPr>
              <a:t>Комментарий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2DA37DC-A8FE-4414-9755-B09A651AC369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8001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98D0D6A-453C-4F38-82D7-03A64E204AB4}"/>
              </a:ext>
            </a:extLst>
          </p:cNvPr>
          <p:cNvSpPr>
            <a:spLocks noGrp="1"/>
          </p:cNvSpPr>
          <p:nvPr/>
        </p:nvSpPr>
        <p:spPr>
          <a:xfrm>
            <a:off x="762000" y="2790825"/>
            <a:ext cx="647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BUG-001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CEC7278-A8C4-42E6-AA98-D205AF0E6E18}"/>
              </a:ext>
            </a:extLst>
          </p:cNvPr>
          <p:cNvSpPr>
            <a:spLocks noGrp="1"/>
          </p:cNvSpPr>
          <p:nvPr/>
        </p:nvSpPr>
        <p:spPr>
          <a:xfrm>
            <a:off x="1543050" y="2705100"/>
            <a:ext cx="447675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7F5DE8F-335D-44C0-A522-63AA4FE24D16}"/>
              </a:ext>
            </a:extLst>
          </p:cNvPr>
          <p:cNvSpPr>
            <a:spLocks noGrp="1"/>
          </p:cNvSpPr>
          <p:nvPr/>
        </p:nvSpPr>
        <p:spPr>
          <a:xfrm>
            <a:off x="1619250" y="2790825"/>
            <a:ext cx="4324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Кнопка «Копировать ссылку» не работала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C88DA52-7F95-4261-A7A1-F2B4AC85D442}"/>
              </a:ext>
            </a:extLst>
          </p:cNvPr>
          <p:cNvSpPr>
            <a:spLocks noGrp="1"/>
          </p:cNvSpPr>
          <p:nvPr/>
        </p:nvSpPr>
        <p:spPr>
          <a:xfrm>
            <a:off x="6076950" y="2705100"/>
            <a:ext cx="1238250" cy="53340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364EBB9-DDF3-420E-B7E7-7F5C62509760}"/>
              </a:ext>
            </a:extLst>
          </p:cNvPr>
          <p:cNvSpPr>
            <a:spLocks noGrp="1"/>
          </p:cNvSpPr>
          <p:nvPr/>
        </p:nvSpPr>
        <p:spPr>
          <a:xfrm>
            <a:off x="6153150" y="2790825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Fixed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904CA61-BD51-4819-A499-F9C6D13FCB1F}"/>
              </a:ext>
            </a:extLst>
          </p:cNvPr>
          <p:cNvSpPr>
            <a:spLocks noGrp="1"/>
          </p:cNvSpPr>
          <p:nvPr/>
        </p:nvSpPr>
        <p:spPr>
          <a:xfrm>
            <a:off x="7372350" y="2705100"/>
            <a:ext cx="33909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AC5E5B2-538C-453A-A119-72113A6877E1}"/>
              </a:ext>
            </a:extLst>
          </p:cNvPr>
          <p:cNvSpPr>
            <a:spLocks noGrp="1"/>
          </p:cNvSpPr>
          <p:nvPr/>
        </p:nvSpPr>
        <p:spPr>
          <a:xfrm>
            <a:off x="7448550" y="2790825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После обновления ссылка корректно копируется в буфер обмена.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555A0CD-8BA5-4DDF-92FA-12F347556C87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8001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A11BB42-3303-476F-8F83-9B249CADD582}"/>
              </a:ext>
            </a:extLst>
          </p:cNvPr>
          <p:cNvSpPr>
            <a:spLocks noGrp="1"/>
          </p:cNvSpPr>
          <p:nvPr/>
        </p:nvSpPr>
        <p:spPr>
          <a:xfrm>
            <a:off x="762000" y="3419475"/>
            <a:ext cx="647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BUG-002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49811EC-32CA-4788-B678-D9ADB4D700F7}"/>
              </a:ext>
            </a:extLst>
          </p:cNvPr>
          <p:cNvSpPr>
            <a:spLocks noGrp="1"/>
          </p:cNvSpPr>
          <p:nvPr/>
        </p:nvSpPr>
        <p:spPr>
          <a:xfrm>
            <a:off x="1543050" y="3333750"/>
            <a:ext cx="447675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FD39D23-4776-4EA2-83C9-0B0196CCE07C}"/>
              </a:ext>
            </a:extLst>
          </p:cNvPr>
          <p:cNvSpPr>
            <a:spLocks noGrp="1"/>
          </p:cNvSpPr>
          <p:nvPr/>
        </p:nvSpPr>
        <p:spPr>
          <a:xfrm>
            <a:off x="1619250" y="3419475"/>
            <a:ext cx="4324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В участниках отображалось Invalid Date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7C886E3-AE2D-4D0B-B692-9061FD9259DB}"/>
              </a:ext>
            </a:extLst>
          </p:cNvPr>
          <p:cNvSpPr>
            <a:spLocks noGrp="1"/>
          </p:cNvSpPr>
          <p:nvPr/>
        </p:nvSpPr>
        <p:spPr>
          <a:xfrm>
            <a:off x="6076950" y="3333750"/>
            <a:ext cx="1238250" cy="53340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E0F932A-9A77-40CA-9935-949BAE14127E}"/>
              </a:ext>
            </a:extLst>
          </p:cNvPr>
          <p:cNvSpPr>
            <a:spLocks noGrp="1"/>
          </p:cNvSpPr>
          <p:nvPr/>
        </p:nvSpPr>
        <p:spPr>
          <a:xfrm>
            <a:off x="6153150" y="3419475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Fixed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3CDF04-76A7-4EB3-87D3-B493D3702B91}"/>
              </a:ext>
            </a:extLst>
          </p:cNvPr>
          <p:cNvSpPr>
            <a:spLocks noGrp="1"/>
          </p:cNvSpPr>
          <p:nvPr/>
        </p:nvSpPr>
        <p:spPr>
          <a:xfrm>
            <a:off x="7372350" y="3333750"/>
            <a:ext cx="33909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B35FBAA-26B9-4BDD-9EB2-AC9E611CE1A3}"/>
              </a:ext>
            </a:extLst>
          </p:cNvPr>
          <p:cNvSpPr>
            <a:spLocks noGrp="1"/>
          </p:cNvSpPr>
          <p:nvPr/>
        </p:nvSpPr>
        <p:spPr>
          <a:xfrm>
            <a:off x="7448550" y="3419475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Дата присоединения теперь показывается корректно.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85F4BF7-4F9F-4C26-80E4-587FAB666079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8001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1E10EAA-B68C-4D4E-969B-4C766B43E96B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647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BUG-003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4405538-A90B-4B4D-A41A-260632670D93}"/>
              </a:ext>
            </a:extLst>
          </p:cNvPr>
          <p:cNvSpPr>
            <a:spLocks noGrp="1"/>
          </p:cNvSpPr>
          <p:nvPr/>
        </p:nvSpPr>
        <p:spPr>
          <a:xfrm>
            <a:off x="1543050" y="3962400"/>
            <a:ext cx="447675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C670C11-79FE-4D7D-985B-E88C5611BC0A}"/>
              </a:ext>
            </a:extLst>
          </p:cNvPr>
          <p:cNvSpPr>
            <a:spLocks noGrp="1"/>
          </p:cNvSpPr>
          <p:nvPr/>
        </p:nvSpPr>
        <p:spPr>
          <a:xfrm>
            <a:off x="1619250" y="4048125"/>
            <a:ext cx="4324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Смена роли выполняется без подтверждения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619BB01-4841-45AF-BD8E-6288C3129D6F}"/>
              </a:ext>
            </a:extLst>
          </p:cNvPr>
          <p:cNvSpPr>
            <a:spLocks noGrp="1"/>
          </p:cNvSpPr>
          <p:nvPr/>
        </p:nvSpPr>
        <p:spPr>
          <a:xfrm>
            <a:off x="6076950" y="3962400"/>
            <a:ext cx="1238250" cy="533400"/>
          </a:xfrm>
          <a:prstGeom prst="rect">
            <a:avLst/>
          </a:prstGeom>
          <a:solidFill>
            <a:srgbClr val="F4D8D8"/>
          </a:solidFill>
          <a:ln w="9525">
            <a:solidFill>
              <a:srgbClr val="F4D8D8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00B0E70-DF64-44D6-BAD3-8A3BA6E22080}"/>
              </a:ext>
            </a:extLst>
          </p:cNvPr>
          <p:cNvSpPr>
            <a:spLocks noGrp="1"/>
          </p:cNvSpPr>
          <p:nvPr/>
        </p:nvSpPr>
        <p:spPr>
          <a:xfrm>
            <a:off x="6153150" y="4048125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76B0149-7884-4CAE-AC32-30B3189F52D8}"/>
              </a:ext>
            </a:extLst>
          </p:cNvPr>
          <p:cNvSpPr>
            <a:spLocks noGrp="1"/>
          </p:cNvSpPr>
          <p:nvPr/>
        </p:nvSpPr>
        <p:spPr>
          <a:xfrm>
            <a:off x="7372350" y="3962400"/>
            <a:ext cx="33909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60E1012-8ADA-4AF7-99F7-1566848704BF}"/>
              </a:ext>
            </a:extLst>
          </p:cNvPr>
          <p:cNvSpPr>
            <a:spLocks noGrp="1"/>
          </p:cNvSpPr>
          <p:nvPr/>
        </p:nvSpPr>
        <p:spPr>
          <a:xfrm>
            <a:off x="7448550" y="4048125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Дефект остаётся актуальным и был переоткрыт.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EDA8578-8F3D-4D79-846D-775C669C48DA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8001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39938492-230F-475C-82EF-145B778A4AE2}"/>
              </a:ext>
            </a:extLst>
          </p:cNvPr>
          <p:cNvSpPr>
            <a:spLocks noGrp="1"/>
          </p:cNvSpPr>
          <p:nvPr/>
        </p:nvSpPr>
        <p:spPr>
          <a:xfrm>
            <a:off x="762000" y="4676775"/>
            <a:ext cx="647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BUG-004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4783F5F-3FCE-45A9-A716-9BE09C871F47}"/>
              </a:ext>
            </a:extLst>
          </p:cNvPr>
          <p:cNvSpPr>
            <a:spLocks noGrp="1"/>
          </p:cNvSpPr>
          <p:nvPr/>
        </p:nvSpPr>
        <p:spPr>
          <a:xfrm>
            <a:off x="1543050" y="4591050"/>
            <a:ext cx="447675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CB7DCCE1-9862-4920-B633-E6AAA20EE0D5}"/>
              </a:ext>
            </a:extLst>
          </p:cNvPr>
          <p:cNvSpPr>
            <a:spLocks noGrp="1"/>
          </p:cNvSpPr>
          <p:nvPr/>
        </p:nvSpPr>
        <p:spPr>
          <a:xfrm>
            <a:off x="1619250" y="4676775"/>
            <a:ext cx="4324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Можно было снять последнего администратора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FBE4FDA-511E-467C-B2CE-49C9A3349FFF}"/>
              </a:ext>
            </a:extLst>
          </p:cNvPr>
          <p:cNvSpPr>
            <a:spLocks noGrp="1"/>
          </p:cNvSpPr>
          <p:nvPr/>
        </p:nvSpPr>
        <p:spPr>
          <a:xfrm>
            <a:off x="6076950" y="4591050"/>
            <a:ext cx="1238250" cy="53340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AB83EA43-7B75-46C6-9E8C-450382E35D6A}"/>
              </a:ext>
            </a:extLst>
          </p:cNvPr>
          <p:cNvSpPr>
            <a:spLocks noGrp="1"/>
          </p:cNvSpPr>
          <p:nvPr/>
        </p:nvSpPr>
        <p:spPr>
          <a:xfrm>
            <a:off x="6153150" y="4676775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Fixed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EF05463-952C-4660-A3D6-CBF33F3CBD68}"/>
              </a:ext>
            </a:extLst>
          </p:cNvPr>
          <p:cNvSpPr>
            <a:spLocks noGrp="1"/>
          </p:cNvSpPr>
          <p:nvPr/>
        </p:nvSpPr>
        <p:spPr>
          <a:xfrm>
            <a:off x="7372350" y="4591050"/>
            <a:ext cx="33909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7122753-6A1A-4B86-A25D-ACF796063F1F}"/>
              </a:ext>
            </a:extLst>
          </p:cNvPr>
          <p:cNvSpPr>
            <a:spLocks noGrp="1"/>
          </p:cNvSpPr>
          <p:nvPr/>
        </p:nvSpPr>
        <p:spPr>
          <a:xfrm>
            <a:off x="7448550" y="4676775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Система больше не даёт оставить проект без админа.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52F46299-D9EA-4E0F-A536-D3A9E29528F4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8001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CB611E7A-9A16-4A25-8A51-CFFEF1963462}"/>
              </a:ext>
            </a:extLst>
          </p:cNvPr>
          <p:cNvSpPr>
            <a:spLocks noGrp="1"/>
          </p:cNvSpPr>
          <p:nvPr/>
        </p:nvSpPr>
        <p:spPr>
          <a:xfrm>
            <a:off x="762000" y="5305425"/>
            <a:ext cx="647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BUG-005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CC5069B-5E05-4446-8354-7438B94F6116}"/>
              </a:ext>
            </a:extLst>
          </p:cNvPr>
          <p:cNvSpPr>
            <a:spLocks noGrp="1"/>
          </p:cNvSpPr>
          <p:nvPr/>
        </p:nvSpPr>
        <p:spPr>
          <a:xfrm>
            <a:off x="1543050" y="5219700"/>
            <a:ext cx="447675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35D145CB-1DF9-4156-AECC-CDA65703323E}"/>
              </a:ext>
            </a:extLst>
          </p:cNvPr>
          <p:cNvSpPr>
            <a:spLocks noGrp="1"/>
          </p:cNvSpPr>
          <p:nvPr/>
        </p:nvSpPr>
        <p:spPr>
          <a:xfrm>
            <a:off x="1619250" y="5305425"/>
            <a:ext cx="4324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Комментарий появлялся только после reload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1322959D-6982-4DCB-B578-BAC5C7E9F2C8}"/>
              </a:ext>
            </a:extLst>
          </p:cNvPr>
          <p:cNvSpPr>
            <a:spLocks noGrp="1"/>
          </p:cNvSpPr>
          <p:nvPr/>
        </p:nvSpPr>
        <p:spPr>
          <a:xfrm>
            <a:off x="6076950" y="5219700"/>
            <a:ext cx="1238250" cy="53340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5824CCDD-2BF4-493B-B460-59076EBFB431}"/>
              </a:ext>
            </a:extLst>
          </p:cNvPr>
          <p:cNvSpPr>
            <a:spLocks noGrp="1"/>
          </p:cNvSpPr>
          <p:nvPr/>
        </p:nvSpPr>
        <p:spPr>
          <a:xfrm>
            <a:off x="6153150" y="5305425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Fixed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78CFFEA0-A614-46BA-A359-A10BD0DBE2F9}"/>
              </a:ext>
            </a:extLst>
          </p:cNvPr>
          <p:cNvSpPr>
            <a:spLocks noGrp="1"/>
          </p:cNvSpPr>
          <p:nvPr/>
        </p:nvSpPr>
        <p:spPr>
          <a:xfrm>
            <a:off x="7372350" y="5219700"/>
            <a:ext cx="3390900" cy="533400"/>
          </a:xfrm>
          <a:prstGeom prst="rect">
            <a:avLst/>
          </a:prstGeom>
          <a:solidFill>
            <a:srgbClr val="FFFDF9"/>
          </a:solidFill>
          <a:ln w="9525">
            <a:solidFill>
              <a:srgbClr val="DED8CC"/>
            </a:solidFill>
            <a:prstDash val="solid"/>
          </a:ln>
        </p:spPr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BD4884AD-00D7-40D1-9E84-A8E47C0E9343}"/>
              </a:ext>
            </a:extLst>
          </p:cNvPr>
          <p:cNvSpPr>
            <a:spLocks noGrp="1"/>
          </p:cNvSpPr>
          <p:nvPr/>
        </p:nvSpPr>
        <p:spPr>
          <a:xfrm>
            <a:off x="7448550" y="5305425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Новый комментарий теперь отображается сразу.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74CA510C-38FB-4CDF-AE62-6ADE9031B0B8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438150"/>
          </a:xfrm>
          <a:prstGeom prst="rect">
            <a:avLst/>
          </a:prstGeom>
          <a:solidFill>
            <a:srgbClr val="F3ECE2"/>
          </a:solidFill>
          <a:ln w="9525">
            <a:solidFill>
              <a:srgbClr val="F3ECE2"/>
            </a:solidFill>
            <a:prstDash val="solid"/>
          </a:ln>
        </p:spPr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595FEB00-4542-471A-8A9D-E89F795597A1}"/>
              </a:ext>
            </a:extLst>
          </p:cNvPr>
          <p:cNvSpPr>
            <a:spLocks noGrp="1"/>
          </p:cNvSpPr>
          <p:nvPr/>
        </p:nvSpPr>
        <p:spPr>
          <a:xfrm>
            <a:off x="876300" y="6105525"/>
            <a:ext cx="1038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Главный вывод по багам: проект заметно стабилизировался после обновления, но административный сценарий со сменой ролей всё ещё небезопасен.</a:t>
            </a:r>
          </a:p>
        </p:txBody>
      </p:sp>
    </p:spTree>
    <p:extLst>
      <p:ext uri="{BB962C8B-B14F-4D97-AF65-F5344CB8AC3E}">
        <p14:creationId xmlns:p14="http://schemas.microsoft.com/office/powerpoint/2010/main" val="976867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194876C-F5F7-4AF4-A61F-58C720320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0">
            <a:solidFill>
              <a:srgbClr val="F6F3EE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14DE524-2B7E-4E44-997E-9726B9CC2463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8E9E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E9E73"/>
                </a:solidFill>
                <a:latin typeface="Aptos"/>
                <a:ea typeface="Aptos"/>
                <a:cs typeface="Aptos"/>
              </a:rPr>
              <a:t>RETEST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263090A-C8EF-4F7C-AA1B-53FDD84A9F4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A1A1A"/>
                </a:solidFill>
                <a:latin typeface="Aptos Display"/>
                <a:ea typeface="Aptos Display"/>
                <a:cs typeface="Aptos Display"/>
              </a:rPr>
              <a:t>Что изменилось после обновления проекта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E72416-0382-4ACB-9E52-251B7D4633A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Отдельный bug-fix retest показал, что команда закрыла большую часть ранних проблем.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D176E96-C01A-416D-900C-2991AF060AD2}"/>
              </a:ext>
            </a:extLst>
          </p:cNvPr>
          <p:cNvSpPr>
            <a:spLocks noGrp="1"/>
          </p:cNvSpPr>
          <p:nvPr/>
        </p:nvSpPr>
        <p:spPr>
          <a:xfrm>
            <a:off x="11239500" y="38100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E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A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4B551AD-1D6D-462E-A827-B62521DBE585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9525"/>
          </a:xfrm>
          <a:prstGeom prst="rect">
            <a:avLst/>
          </a:prstGeom>
          <a:solidFill>
            <a:srgbClr val="DED8CC"/>
          </a:solidFill>
          <a:ln w="0">
            <a:solidFill>
              <a:srgbClr val="DED8C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A56E33-0906-4A94-BF90-AA20882FB01C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5048250" cy="3638550"/>
          </a:xfrm>
          <a:prstGeom prst="rect">
            <a:avLst/>
          </a:prstGeom>
          <a:solidFill>
            <a:srgbClr val="EDF4E9"/>
          </a:solidFill>
          <a:ln w="9525">
            <a:solidFill>
              <a:srgbClr val="EDF4E9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50849C7-0368-4DA4-B892-FA8632B00536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Исправлено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F85833-DF58-46DC-BD33-BF7568273B26}"/>
              </a:ext>
            </a:extLst>
          </p:cNvPr>
          <p:cNvSpPr>
            <a:spLocks noGrp="1"/>
          </p:cNvSpPr>
          <p:nvPr/>
        </p:nvSpPr>
        <p:spPr>
          <a:xfrm>
            <a:off x="4610100" y="2495550"/>
            <a:ext cx="89535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5EBC348-8701-4024-80B3-CBFF18CC2F7D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4 / 5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433D39E-3111-4544-B5ED-BC634AB0AAEF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DCF95A2-79D1-4754-BBEA-DFEB06955CA5}"/>
              </a:ext>
            </a:extLst>
          </p:cNvPr>
          <p:cNvSpPr>
            <a:spLocks noGrp="1"/>
          </p:cNvSpPr>
          <p:nvPr/>
        </p:nvSpPr>
        <p:spPr>
          <a:xfrm>
            <a:off x="1104900" y="2971800"/>
            <a:ext cx="390525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копирование ссылки на предложение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F971670-1731-4259-9525-B354E1B9124C}"/>
              </a:ext>
            </a:extLst>
          </p:cNvPr>
          <p:cNvSpPr>
            <a:spLocks noGrp="1"/>
          </p:cNvSpPr>
          <p:nvPr/>
        </p:nvSpPr>
        <p:spPr>
          <a:xfrm>
            <a:off x="914400" y="3502343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F892026-92EA-41A3-A40A-184EA71F3248}"/>
              </a:ext>
            </a:extLst>
          </p:cNvPr>
          <p:cNvSpPr>
            <a:spLocks noGrp="1"/>
          </p:cNvSpPr>
          <p:nvPr/>
        </p:nvSpPr>
        <p:spPr>
          <a:xfrm>
            <a:off x="1104900" y="3426143"/>
            <a:ext cx="390525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отображение даты присоединения участника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CCF1E02-8F77-4DF0-BC15-3AC5B5E87ABD}"/>
              </a:ext>
            </a:extLst>
          </p:cNvPr>
          <p:cNvSpPr>
            <a:spLocks noGrp="1"/>
          </p:cNvSpPr>
          <p:nvPr/>
        </p:nvSpPr>
        <p:spPr>
          <a:xfrm>
            <a:off x="914400" y="3956685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D9981F4-37EB-41A2-97F4-DE16D2265F67}"/>
              </a:ext>
            </a:extLst>
          </p:cNvPr>
          <p:cNvSpPr>
            <a:spLocks noGrp="1"/>
          </p:cNvSpPr>
          <p:nvPr/>
        </p:nvSpPr>
        <p:spPr>
          <a:xfrm>
            <a:off x="1104900" y="3880485"/>
            <a:ext cx="390525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защита последнего администратора проекта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09ECD4-8DE4-4BF4-B9A6-33585F889D17}"/>
              </a:ext>
            </a:extLst>
          </p:cNvPr>
          <p:cNvSpPr>
            <a:spLocks noGrp="1"/>
          </p:cNvSpPr>
          <p:nvPr/>
        </p:nvSpPr>
        <p:spPr>
          <a:xfrm>
            <a:off x="914400" y="4411028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D45F6D0-9B0F-471C-9A0C-7C4041266BF8}"/>
              </a:ext>
            </a:extLst>
          </p:cNvPr>
          <p:cNvSpPr>
            <a:spLocks noGrp="1"/>
          </p:cNvSpPr>
          <p:nvPr/>
        </p:nvSpPr>
        <p:spPr>
          <a:xfrm>
            <a:off x="1104900" y="4334828"/>
            <a:ext cx="390525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мгновенное обновление комментариев после отправки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4F2023D-86B5-4126-BCFC-987FEEC2729A}"/>
              </a:ext>
            </a:extLst>
          </p:cNvPr>
          <p:cNvSpPr>
            <a:spLocks noGrp="1"/>
          </p:cNvSpPr>
          <p:nvPr/>
        </p:nvSpPr>
        <p:spPr>
          <a:xfrm>
            <a:off x="5962650" y="2247900"/>
            <a:ext cx="5543550" cy="3638550"/>
          </a:xfrm>
          <a:prstGeom prst="rect">
            <a:avLst/>
          </a:prstGeom>
          <a:solidFill>
            <a:srgbClr val="F7E6E6"/>
          </a:solidFill>
          <a:ln w="9525">
            <a:solidFill>
              <a:srgbClr val="F7E6E6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1106E45-249C-4274-8FE7-92167026CB2D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A84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84F4F"/>
                </a:solidFill>
                <a:latin typeface="Aptos"/>
                <a:ea typeface="Aptos"/>
                <a:cs typeface="Aptos"/>
              </a:rPr>
              <a:t>Требует доработки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3F6D7A0-743B-432B-AAFC-329B3D0047EC}"/>
              </a:ext>
            </a:extLst>
          </p:cNvPr>
          <p:cNvSpPr>
            <a:spLocks noGrp="1"/>
          </p:cNvSpPr>
          <p:nvPr/>
        </p:nvSpPr>
        <p:spPr>
          <a:xfrm>
            <a:off x="10344150" y="2495550"/>
            <a:ext cx="933450" cy="247650"/>
          </a:xfrm>
          <a:prstGeom prst="rect">
            <a:avLst/>
          </a:prstGeom>
          <a:solidFill>
            <a:srgbClr val="F4D8D8"/>
          </a:solidFill>
          <a:ln w="9525">
            <a:solidFill>
              <a:srgbClr val="F4D8D8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369D318-B331-4CAF-832A-26BD14D754C4}"/>
              </a:ext>
            </a:extLst>
          </p:cNvPr>
          <p:cNvSpPr>
            <a:spLocks noGrp="1"/>
          </p:cNvSpPr>
          <p:nvPr/>
        </p:nvSpPr>
        <p:spPr>
          <a:xfrm>
            <a:off x="10344150" y="2533650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A84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4F4F"/>
                </a:solidFill>
                <a:latin typeface="Aptos"/>
                <a:ea typeface="Aptos"/>
                <a:cs typeface="Aptos"/>
              </a:rPr>
              <a:t>1 bug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754A35F-A0EE-4AE1-8EE4-079203BF5EFE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AC0F4AB-0F6A-4DC5-8E67-0B3215DE847B}"/>
              </a:ext>
            </a:extLst>
          </p:cNvPr>
          <p:cNvSpPr>
            <a:spLocks noGrp="1"/>
          </p:cNvSpPr>
          <p:nvPr/>
        </p:nvSpPr>
        <p:spPr>
          <a:xfrm>
            <a:off x="6381750" y="2971800"/>
            <a:ext cx="457200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смена роли участника инициируется без окна подтверждения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FC966D5-693C-4552-934F-5A4164773D37}"/>
              </a:ext>
            </a:extLst>
          </p:cNvPr>
          <p:cNvSpPr>
            <a:spLocks noGrp="1"/>
          </p:cNvSpPr>
          <p:nvPr/>
        </p:nvSpPr>
        <p:spPr>
          <a:xfrm>
            <a:off x="6191250" y="3502343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DE1BC8D-258A-474F-8647-E94E0886CE70}"/>
              </a:ext>
            </a:extLst>
          </p:cNvPr>
          <p:cNvSpPr>
            <a:spLocks noGrp="1"/>
          </p:cNvSpPr>
          <p:nvPr/>
        </p:nvSpPr>
        <p:spPr>
          <a:xfrm>
            <a:off x="6381750" y="3426143"/>
            <a:ext cx="457200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опасное административное действие всё ещё слишком легко выполнить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5281729-247B-4388-B4BD-938F31659A6C}"/>
              </a:ext>
            </a:extLst>
          </p:cNvPr>
          <p:cNvSpPr>
            <a:spLocks noGrp="1"/>
          </p:cNvSpPr>
          <p:nvPr/>
        </p:nvSpPr>
        <p:spPr>
          <a:xfrm>
            <a:off x="6191250" y="3956685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FC2374B-9660-4A90-A1E0-922072DD99F4}"/>
              </a:ext>
            </a:extLst>
          </p:cNvPr>
          <p:cNvSpPr>
            <a:spLocks noGrp="1"/>
          </p:cNvSpPr>
          <p:nvPr/>
        </p:nvSpPr>
        <p:spPr>
          <a:xfrm>
            <a:off x="6381750" y="3880485"/>
            <a:ext cx="4572000" cy="3562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A1A1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1A1A"/>
                </a:solidFill>
                <a:latin typeface="Aptos"/>
                <a:ea typeface="Aptos"/>
                <a:cs typeface="Aptos"/>
              </a:rPr>
              <a:t>после фикса нужен короткий повторный ретест участников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845918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1CFD65C-0CEC-41A6-9FFF-94C8063A49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0">
            <a:solidFill>
              <a:srgbClr val="F6F3EE"/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B1D4CF-2BA8-4803-94D8-8F3270ADE4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B1B"/>
          </a:solidFill>
          <a:ln w="0">
            <a:solidFill>
              <a:srgbClr val="1B1B1B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B596A4-4DDC-40C5-A3E6-B877E72BA30C}"/>
              </a:ext>
            </a:extLst>
          </p:cNvPr>
          <p:cNvSpPr>
            <a:spLocks noGrp="1"/>
          </p:cNvSpPr>
          <p:nvPr/>
        </p:nvSpPr>
        <p:spPr>
          <a:xfrm>
            <a:off x="647700" y="571500"/>
            <a:ext cx="95250" cy="11430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FE54A6-A65A-4306-8E51-272D66A229A6}"/>
              </a:ext>
            </a:extLst>
          </p:cNvPr>
          <p:cNvSpPr>
            <a:spLocks noGrp="1"/>
          </p:cNvSpPr>
          <p:nvPr/>
        </p:nvSpPr>
        <p:spPr>
          <a:xfrm>
            <a:off x="933450" y="685800"/>
            <a:ext cx="476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Итог по качеству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D75790-06F9-4B46-887B-608A49ECD52C}"/>
              </a:ext>
            </a:extLst>
          </p:cNvPr>
          <p:cNvSpPr>
            <a:spLocks noGrp="1"/>
          </p:cNvSpPr>
          <p:nvPr/>
        </p:nvSpPr>
        <p:spPr>
          <a:xfrm>
            <a:off x="933450" y="1200150"/>
            <a:ext cx="8382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AE6D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E6DE"/>
                </a:solidFill>
                <a:latin typeface="Aptos"/>
                <a:ea typeface="Aptos"/>
                <a:cs typeface="Aptos"/>
              </a:rPr>
              <a:t>Проект уже проходит базовый пользовательский сценарий и auth API, а большинство старых дефектов закрыты. Для финальной стабильности нужно добить один административный риск и завершить полный прогон non-auth API.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AEF606-C959-4F31-9C7B-B2489D433BA5}"/>
              </a:ext>
            </a:extLst>
          </p:cNvPr>
          <p:cNvSpPr>
            <a:spLocks noGrp="1"/>
          </p:cNvSpPr>
          <p:nvPr/>
        </p:nvSpPr>
        <p:spPr>
          <a:xfrm>
            <a:off x="933450" y="2476500"/>
            <a:ext cx="4895850" cy="2857500"/>
          </a:xfrm>
          <a:prstGeom prst="rect">
            <a:avLst/>
          </a:prstGeom>
          <a:solidFill>
            <a:srgbClr val="272727"/>
          </a:solidFill>
          <a:ln w="9525">
            <a:solidFill>
              <a:srgbClr val="272727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7C4695-2124-43D0-ABB4-6CB646617818}"/>
              </a:ext>
            </a:extLst>
          </p:cNvPr>
          <p:cNvSpPr>
            <a:spLocks noGrp="1"/>
          </p:cNvSpPr>
          <p:nvPr/>
        </p:nvSpPr>
        <p:spPr>
          <a:xfrm>
            <a:off x="1200150" y="2743200"/>
            <a:ext cx="2667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Что можно защищать уже сейчас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3E529B9-DBBD-4824-B86A-9DCC87ED4248}"/>
              </a:ext>
            </a:extLst>
          </p:cNvPr>
          <p:cNvSpPr>
            <a:spLocks noGrp="1"/>
          </p:cNvSpPr>
          <p:nvPr/>
        </p:nvSpPr>
        <p:spPr>
          <a:xfrm>
            <a:off x="1200150" y="350520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0784D73-5EBF-4C4F-9392-B81D39B3CA44}"/>
              </a:ext>
            </a:extLst>
          </p:cNvPr>
          <p:cNvSpPr>
            <a:spLocks noGrp="1"/>
          </p:cNvSpPr>
          <p:nvPr/>
        </p:nvSpPr>
        <p:spPr>
          <a:xfrm>
            <a:off x="1390650" y="3429000"/>
            <a:ext cx="39052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структурированный пакет QA-артефактов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15E0272-3603-435B-97E4-036AC3DDB61D}"/>
              </a:ext>
            </a:extLst>
          </p:cNvPr>
          <p:cNvSpPr>
            <a:spLocks noGrp="1"/>
          </p:cNvSpPr>
          <p:nvPr/>
        </p:nvSpPr>
        <p:spPr>
          <a:xfrm>
            <a:off x="1200150" y="393954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866E6F2-7B11-4912-B6F5-091B87783614}"/>
              </a:ext>
            </a:extLst>
          </p:cNvPr>
          <p:cNvSpPr>
            <a:spLocks noGrp="1"/>
          </p:cNvSpPr>
          <p:nvPr/>
        </p:nvSpPr>
        <p:spPr>
          <a:xfrm>
            <a:off x="1390650" y="3863340"/>
            <a:ext cx="39052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реальный UI и smoke-прогон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D9C21C7-5FA8-4B57-A7BA-B714B241370C}"/>
              </a:ext>
            </a:extLst>
          </p:cNvPr>
          <p:cNvSpPr>
            <a:spLocks noGrp="1"/>
          </p:cNvSpPr>
          <p:nvPr/>
        </p:nvSpPr>
        <p:spPr>
          <a:xfrm>
            <a:off x="1200150" y="437388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52C0D08-4DF0-413F-BFD3-B130B8AC5767}"/>
              </a:ext>
            </a:extLst>
          </p:cNvPr>
          <p:cNvSpPr>
            <a:spLocks noGrp="1"/>
          </p:cNvSpPr>
          <p:nvPr/>
        </p:nvSpPr>
        <p:spPr>
          <a:xfrm>
            <a:off x="1390650" y="4297680"/>
            <a:ext cx="39052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полный отчёт по auth API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662313A-4049-437C-BDEE-B89022969788}"/>
              </a:ext>
            </a:extLst>
          </p:cNvPr>
          <p:cNvSpPr>
            <a:spLocks noGrp="1"/>
          </p:cNvSpPr>
          <p:nvPr/>
        </p:nvSpPr>
        <p:spPr>
          <a:xfrm>
            <a:off x="1200150" y="480822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7E61FE7-2A25-4AF8-8005-7F91F74D133B}"/>
              </a:ext>
            </a:extLst>
          </p:cNvPr>
          <p:cNvSpPr>
            <a:spLocks noGrp="1"/>
          </p:cNvSpPr>
          <p:nvPr/>
        </p:nvSpPr>
        <p:spPr>
          <a:xfrm>
            <a:off x="1390650" y="4732020"/>
            <a:ext cx="390525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bug-fix retest с подтверждёнными исправлениями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FAC4BE6-7917-4F3A-84DF-59B5E0056223}"/>
              </a:ext>
            </a:extLst>
          </p:cNvPr>
          <p:cNvSpPr>
            <a:spLocks noGrp="1"/>
          </p:cNvSpPr>
          <p:nvPr/>
        </p:nvSpPr>
        <p:spPr>
          <a:xfrm>
            <a:off x="6115050" y="2476500"/>
            <a:ext cx="5143500" cy="2857500"/>
          </a:xfrm>
          <a:prstGeom prst="rect">
            <a:avLst/>
          </a:prstGeom>
          <a:solidFill>
            <a:srgbClr val="272727"/>
          </a:solidFill>
          <a:ln w="9525">
            <a:solidFill>
              <a:srgbClr val="272727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51831B3-19CA-49E1-9503-68597959D842}"/>
              </a:ext>
            </a:extLst>
          </p:cNvPr>
          <p:cNvSpPr>
            <a:spLocks noGrp="1"/>
          </p:cNvSpPr>
          <p:nvPr/>
        </p:nvSpPr>
        <p:spPr>
          <a:xfrm>
            <a:off x="6381750" y="2743200"/>
            <a:ext cx="304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Что рекомендую как следующий шаг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59EE0D0-045E-4C9C-9006-1B0358929C05}"/>
              </a:ext>
            </a:extLst>
          </p:cNvPr>
          <p:cNvSpPr>
            <a:spLocks noGrp="1"/>
          </p:cNvSpPr>
          <p:nvPr/>
        </p:nvSpPr>
        <p:spPr>
          <a:xfrm>
            <a:off x="6381750" y="350520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ACA1660-06B2-4AC0-8D59-08BE0D9B3088}"/>
              </a:ext>
            </a:extLst>
          </p:cNvPr>
          <p:cNvSpPr>
            <a:spLocks noGrp="1"/>
          </p:cNvSpPr>
          <p:nvPr/>
        </p:nvSpPr>
        <p:spPr>
          <a:xfrm>
            <a:off x="6572250" y="3429000"/>
            <a:ext cx="4191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исправить BUG-003 со сменой ролей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84DC66B-564F-425C-8722-FB265AAF9F69}"/>
              </a:ext>
            </a:extLst>
          </p:cNvPr>
          <p:cNvSpPr>
            <a:spLocks noGrp="1"/>
          </p:cNvSpPr>
          <p:nvPr/>
        </p:nvSpPr>
        <p:spPr>
          <a:xfrm>
            <a:off x="6381750" y="393954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6B76A09-A860-41E6-A339-EC726A90479B}"/>
              </a:ext>
            </a:extLst>
          </p:cNvPr>
          <p:cNvSpPr>
            <a:spLocks noGrp="1"/>
          </p:cNvSpPr>
          <p:nvPr/>
        </p:nvSpPr>
        <p:spPr>
          <a:xfrm>
            <a:off x="6572250" y="3863340"/>
            <a:ext cx="4191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прогнать весь non-auth API до конца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6B64213-4040-49AB-831A-420565ABC9A1}"/>
              </a:ext>
            </a:extLst>
          </p:cNvPr>
          <p:cNvSpPr>
            <a:spLocks noGrp="1"/>
          </p:cNvSpPr>
          <p:nvPr/>
        </p:nvSpPr>
        <p:spPr>
          <a:xfrm>
            <a:off x="6381750" y="437388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CDB13D4-26FF-4ACD-B2A6-A2671D5F85E9}"/>
              </a:ext>
            </a:extLst>
          </p:cNvPr>
          <p:cNvSpPr>
            <a:spLocks noGrp="1"/>
          </p:cNvSpPr>
          <p:nvPr/>
        </p:nvSpPr>
        <p:spPr>
          <a:xfrm>
            <a:off x="6572250" y="4297680"/>
            <a:ext cx="4191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повторить короткий regression run после фикса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AF87BA1-8D1A-4C30-BA20-E79447AEFDDB}"/>
              </a:ext>
            </a:extLst>
          </p:cNvPr>
          <p:cNvSpPr>
            <a:spLocks noGrp="1"/>
          </p:cNvSpPr>
          <p:nvPr/>
        </p:nvSpPr>
        <p:spPr>
          <a:xfrm>
            <a:off x="6381750" y="4808220"/>
            <a:ext cx="76200" cy="76200"/>
          </a:xfrm>
          <a:prstGeom prst="rect">
            <a:avLst/>
          </a:prstGeom>
          <a:solidFill>
            <a:srgbClr val="E6C86F"/>
          </a:solidFill>
          <a:ln w="0">
            <a:solidFill>
              <a:srgbClr val="E6C86F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350B435-2014-4D21-962B-6474CFDCF1A8}"/>
              </a:ext>
            </a:extLst>
          </p:cNvPr>
          <p:cNvSpPr>
            <a:spLocks noGrp="1"/>
          </p:cNvSpPr>
          <p:nvPr/>
        </p:nvSpPr>
        <p:spPr>
          <a:xfrm>
            <a:off x="6572250" y="4732020"/>
            <a:ext cx="4191000" cy="3352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5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5F1E8"/>
                </a:solidFill>
                <a:latin typeface="Aptos"/>
                <a:ea typeface="Aptos"/>
                <a:cs typeface="Aptos"/>
              </a:rPr>
              <a:t>использовать текущие отчёты как финальную QA-базу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3A71FBF-972E-4757-ACA5-5A705656E565}"/>
              </a:ext>
            </a:extLst>
          </p:cNvPr>
          <p:cNvSpPr>
            <a:spLocks noGrp="1"/>
          </p:cNvSpPr>
          <p:nvPr/>
        </p:nvSpPr>
        <p:spPr>
          <a:xfrm>
            <a:off x="933450" y="5772150"/>
            <a:ext cx="1524000" cy="247650"/>
          </a:xfrm>
          <a:prstGeom prst="rect">
            <a:avLst/>
          </a:prstGeom>
          <a:solidFill>
            <a:srgbClr val="DDEDDC"/>
          </a:solidFill>
          <a:ln w="9525">
            <a:solidFill>
              <a:srgbClr val="DDEDDC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AFA42DA-826E-48EE-B520-15BCC222299D}"/>
              </a:ext>
            </a:extLst>
          </p:cNvPr>
          <p:cNvSpPr>
            <a:spLocks noGrp="1"/>
          </p:cNvSpPr>
          <p:nvPr/>
        </p:nvSpPr>
        <p:spPr>
          <a:xfrm>
            <a:off x="933450" y="58102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3C66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C664D"/>
                </a:solidFill>
                <a:latin typeface="Aptos"/>
                <a:ea typeface="Aptos"/>
                <a:cs typeface="Aptos"/>
              </a:rPr>
              <a:t>Base flow stable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F38487B-492B-447E-BEC7-1DE1BD7C7664}"/>
              </a:ext>
            </a:extLst>
          </p:cNvPr>
          <p:cNvSpPr>
            <a:spLocks noGrp="1"/>
          </p:cNvSpPr>
          <p:nvPr/>
        </p:nvSpPr>
        <p:spPr>
          <a:xfrm>
            <a:off x="2609850" y="5772150"/>
            <a:ext cx="1676400" cy="247650"/>
          </a:xfrm>
          <a:prstGeom prst="rect">
            <a:avLst/>
          </a:prstGeom>
          <a:solidFill>
            <a:srgbClr val="F4D8D8"/>
          </a:solidFill>
          <a:ln w="9525">
            <a:solidFill>
              <a:srgbClr val="F4D8D8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5EF181D-7896-46D9-974A-8E4BA0320A8F}"/>
              </a:ext>
            </a:extLst>
          </p:cNvPr>
          <p:cNvSpPr>
            <a:spLocks noGrp="1"/>
          </p:cNvSpPr>
          <p:nvPr/>
        </p:nvSpPr>
        <p:spPr>
          <a:xfrm>
            <a:off x="2609850" y="5810250"/>
            <a:ext cx="1676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A84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4F4F"/>
                </a:solidFill>
                <a:latin typeface="Aptos"/>
                <a:ea typeface="Aptos"/>
                <a:cs typeface="Aptos"/>
              </a:rPr>
              <a:t>1 active risk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D47138D-AA18-4103-9AEB-688A88ABEA5E}"/>
              </a:ext>
            </a:extLst>
          </p:cNvPr>
          <p:cNvSpPr>
            <a:spLocks noGrp="1"/>
          </p:cNvSpPr>
          <p:nvPr/>
        </p:nvSpPr>
        <p:spPr>
          <a:xfrm>
            <a:off x="4438650" y="5772150"/>
            <a:ext cx="1790700" cy="247650"/>
          </a:xfrm>
          <a:prstGeom prst="rect">
            <a:avLst/>
          </a:prstGeom>
          <a:solidFill>
            <a:srgbClr val="F6E9B5"/>
          </a:solidFill>
          <a:ln w="9525">
            <a:solidFill>
              <a:srgbClr val="F6E9B5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177FE36-4901-4C99-9BFB-2D43ACC355E5}"/>
              </a:ext>
            </a:extLst>
          </p:cNvPr>
          <p:cNvSpPr>
            <a:spLocks noGrp="1"/>
          </p:cNvSpPr>
          <p:nvPr/>
        </p:nvSpPr>
        <p:spPr>
          <a:xfrm>
            <a:off x="4438650" y="581025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9A7B1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7B1E"/>
                </a:solidFill>
                <a:latin typeface="Aptos"/>
                <a:ea typeface="Aptos"/>
                <a:cs typeface="Aptos"/>
              </a:rPr>
              <a:t>QA package ready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6177D3-FC93-4C70-ADF7-C6F1FC3E8932}"/>
              </a:ext>
            </a:extLst>
          </p:cNvPr>
          <p:cNvSpPr>
            <a:spLocks noGrp="1"/>
          </p:cNvSpPr>
          <p:nvPr/>
        </p:nvSpPr>
        <p:spPr>
          <a:xfrm>
            <a:off x="9124950" y="60198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D9D3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D3C8"/>
                </a:solidFill>
                <a:latin typeface="Aptos"/>
                <a:ea typeface="Aptos"/>
                <a:cs typeface="Apto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2203242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Macintosh PowerPoint</Application>
  <DocSecurity>0</DocSecurity>
  <PresentationFormat>Широкоэкранный</PresentationFormat>
  <Paragraphs>157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Vsevolod Zavarzin</cp:lastModifiedBy>
  <cp:revision>1</cp:revision>
  <dcterms:created xsi:type="dcterms:W3CDTF">2026-05-19T12:29:03Z</dcterms:created>
  <dcterms:modified xsi:type="dcterms:W3CDTF">2026-05-19T14:07:38Z</dcterms:modified>
</cp:coreProperties>
</file>